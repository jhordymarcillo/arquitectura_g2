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0" y="3238500"/>
            <a:ext cx="18288000" cy="35623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3493770"/>
            <a:ext cx="1621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CONVERSIÓN DE UNIDADES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62000" y="4472940"/>
            <a:ext cx="17266920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kern="0" spc="127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— SIN BASE DE DATOS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2000" y="6858000"/>
            <a:ext cx="909720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05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62000" y="7250430"/>
            <a:ext cx="90972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Gualotuña José Proaño Jhonathan García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165735" y="6858000"/>
            <a:ext cx="75810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165735" y="7250430"/>
            <a:ext cx="758107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Eduardo M. Campaña O.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 err="1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05 / 2025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17" name="Google Shape;102;p1" descr="Resultado de imagen para espe">
            <a:extLst>
              <a:ext uri="{FF2B5EF4-FFF2-40B4-BE49-F238E27FC236}">
                <a16:creationId xmlns:a16="http://schemas.microsoft.com/office/drawing/2014/main" id="{CE086591-E514-D4D4-3EB2-DC21224142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1837"/>
            <a:ext cx="13927540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2426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46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29375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WCF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32689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C#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600" y="3600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WinForms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600" y="393192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ASP.NET Core MVC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600" y="426339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459486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0600" y="463677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3400" y="502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" y="506730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3400" y="545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90600" y="5497830"/>
            <a:ext cx="266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cubrir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5143500" y="2125980"/>
            <a:ext cx="1275397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.NET / WCF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IIS expone operaciones de conversión de unidades de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base de datos. Cuatro clientes en plataformas distintas consumen el mismo endpoint demostrando la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 SOAP.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5143500" y="3571875"/>
            <a:ext cx="1894582" cy="449580"/>
          </a:xfrm>
          <a:prstGeom prst="roundRect">
            <a:avLst>
              <a:gd name="adj" fmla="val 50000"/>
            </a:avLst>
          </a:prstGeom>
          <a:solidFill>
            <a:srgbClr val="1A3260"/>
          </a:solidFill>
          <a:ln w="19050">
            <a:solidFill>
              <a:srgbClr val="1A3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0" y="3686175"/>
            <a:ext cx="158978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· .NET 4.7.2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52382" y="3571875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882" y="3686175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24546" y="3571875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5046" y="3686175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952791" y="3571875"/>
            <a:ext cx="1249323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3291" y="3686175"/>
            <a:ext cx="94452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316415" y="3571875"/>
            <a:ext cx="1143000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06915" y="3686175"/>
            <a:ext cx="8382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BDD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43500" y="9772650"/>
            <a:ext cx="42719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ÍNDICE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985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4048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SOAP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0" y="2125980"/>
            <a:ext cx="12753975" cy="136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trabajo describe el diseño e implementación de un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expone operaciones de conversión de unidades físicas: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peso/masa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servicio se desarrolló con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.NET Framework 4.7.2, se hospeda en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configura mediante el archivo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3500" y="360807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característica central del proyecto es que opera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en memoria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requerir ningún motor de base de datos; toda la lógica reside en clases C# dentro del servidor WCF. El binding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automáticamente 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accesible mediante el endpoint de metadatos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43500" y="475869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clientes implementados (consola C#, escritorio WinForms, web ASP.NET Core MVC y móvil Android/Kotlin) se conectan al endpoint mediante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ChannelFactory&lt;T&gt;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mediante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del cliente móvil.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3500" y="9772650"/>
            <a:ext cx="54050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01 INTRODUCCIÓN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5364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125980"/>
            <a:ext cx="12382500" cy="2323148"/>
          </a:xfrm>
          <a:prstGeom prst="roundRect">
            <a:avLst>
              <a:gd name="adj" fmla="val 2460"/>
            </a:avLst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5638800" y="2583180"/>
            <a:ext cx="11733657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un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provea operaciones de conversión de unidades físicas a múltiples tipos de clientes,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persistencia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base de datos.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5143500" y="4753928"/>
            <a:ext cx="814745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0" y="4868228"/>
            <a:ext cx="50994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72545" y="4753928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045" y="4868228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00791" y="4753928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1291" y="4868228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72954" y="4753928"/>
            <a:ext cx="19264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3454" y="4868228"/>
            <a:ext cx="16216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913686" y="4753928"/>
            <a:ext cx="13549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4186" y="4868228"/>
            <a:ext cx="1050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02 OBJETIVOS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07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220218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SOAP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 implementar la interfaz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atributos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220218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sin BDD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la conversión y autenticación en clases C# 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sin acceso a base de datos.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43500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3" name="Shape 41"/>
          <p:cNvSpPr/>
          <p:nvPr/>
        </p:nvSpPr>
        <p:spPr>
          <a:xfrm>
            <a:off x="5143500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398145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22355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6" name="Text 44"/>
          <p:cNvSpPr/>
          <p:nvPr/>
        </p:nvSpPr>
        <p:spPr>
          <a:xfrm>
            <a:off x="5448300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8300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Hospedaje en IIS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8300" y="484632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el servicio WCF en IIS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Service1.svc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binding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439525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9525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39525" y="398145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8380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4" name="Text 52"/>
          <p:cNvSpPr/>
          <p:nvPr/>
        </p:nvSpPr>
        <p:spPr>
          <a:xfrm>
            <a:off x="11744325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744325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 C#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744325" y="4846320"/>
            <a:ext cx="5711819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el servicio SOAP usando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143500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143500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43500" y="576072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22355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2" name="Text 60"/>
          <p:cNvSpPr/>
          <p:nvPr/>
        </p:nvSpPr>
        <p:spPr>
          <a:xfrm>
            <a:off x="5448300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8300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48300" y="662559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cliente de escritorio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de conversión.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1439525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39525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9525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39525" y="576072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69" name="Shape 67"/>
          <p:cNvSpPr/>
          <p:nvPr/>
        </p:nvSpPr>
        <p:spPr>
          <a:xfrm>
            <a:off x="17518380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70" name="Text 68"/>
          <p:cNvSpPr/>
          <p:nvPr/>
        </p:nvSpPr>
        <p:spPr>
          <a:xfrm>
            <a:off x="11744325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1744325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Móvil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1744325" y="6625590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cliente web ASP.NET Core MVC y el cliente Android/Kotlin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02 OBJETIVOS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60382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225540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WCF, IIS y 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.svc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2202180"/>
            <a:ext cx="76200" cy="20878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473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Microsoft para servicios orientados a SOA. Tres conceptos: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el servicio sobre HTTP/SOAP 1.1, interoperable con cualquier cliente.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8715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8715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87150" y="2202180"/>
            <a:ext cx="76200" cy="208788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838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83005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83005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y Service1.svc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3005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hospeda el servicio mediante un archivo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contiene la directiva de activación. El handler WCF se registra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endpoint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descargar el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generar proxies automáticamente.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43500" y="4518660"/>
            <a:ext cx="127539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 en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http://host:8085/Service1.svc?wsdl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operaciones, tipos y bindings, garantizando que cualquier cliente — independientemente de la plataforma — pueda construir su proxy SOAP.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76450"/>
            <a:ext cx="242256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06980"/>
            <a:ext cx="234535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compartido —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proxy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2842260"/>
            <a:ext cx="6220016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generar un proxy con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svcutil.exe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 clientes .NET </a:t>
            </a: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replican la interfaz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mismos atributos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143500" y="4210050"/>
            <a:ext cx="6220016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un canal WCF que implementa esa interfaz: las llamadas remotas se ven como métodos locales.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87150" y="2842260"/>
            <a:ext cx="6038850" cy="3899535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734800" y="3051810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 y clientes comparten el mismo contrato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proxy = f.CreateChannel();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43500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7008495"/>
            <a:ext cx="76200" cy="18097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7873365"/>
            <a:ext cx="5711819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configurado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Controladores invocan al servicio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ConversionSoapClient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(hereda de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ClientBase&lt;T&gt;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La sesión HTTP mantiene la autenticación.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7008495"/>
            <a:ext cx="76200" cy="180975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sin Persistencia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7873365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(Request/Response), Controlador (orquesta SOAP), Vista (consola, Forms, Razor, Fragments). Sin lógica de negocio en la vista.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37510"/>
            <a:ext cx="20919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68040"/>
            <a:ext cx="160389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 — VISTA GLOBAL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SOAP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3100" y="3802380"/>
            <a:ext cx="3543300" cy="1554480"/>
          </a:xfrm>
          <a:prstGeom prst="roundRect">
            <a:avLst>
              <a:gd name="adj" fmla="val 4902"/>
            </a:avLst>
          </a:prstGeom>
          <a:solidFill>
            <a:srgbClr val="1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3138" y="4030980"/>
            <a:ext cx="2943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315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 · IIS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63138" y="4278630"/>
            <a:ext cx="2943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863138" y="475869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· :8085/Service1.svc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63138" y="497205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· sin BDD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24500" y="241173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6900" y="256413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6900" y="279273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76900" y="305562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450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690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690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C#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7690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989671" y="2411730"/>
            <a:ext cx="2155329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42071" y="2564130"/>
            <a:ext cx="1850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142071" y="2792730"/>
            <a:ext cx="185052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142071" y="3055620"/>
            <a:ext cx="1850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ClientBase&lt;T&gt; · .NET 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14475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29715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29715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529715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69" y="1941586"/>
            <a:ext cx="13981563" cy="602282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43500" y="7631430"/>
            <a:ext cx="1275397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construye el envelope SOAP manualmente: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SoapObject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serializa y se envía con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HttpTransportSE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respetando el namespace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 WCF.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4.1 SERVIDOR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CONUNI_SOAP_DOTNET_GR02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766060"/>
            <a:ext cx="1275397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WCF (.NET Framework 4.7.2) hospedado en IIS. Toda la lógica de conversión y autenticación reside en clases C#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657600"/>
            <a:ext cx="6038850" cy="6553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43053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36576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3657600"/>
            <a:ext cx="76200" cy="6553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4730" y="3657600"/>
            <a:ext cx="9525" cy="6553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Text 23"/>
          <p:cNvSpPr/>
          <p:nvPr/>
        </p:nvSpPr>
        <p:spPr>
          <a:xfrm>
            <a:off x="5429250" y="3836670"/>
            <a:ext cx="57020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505450" y="4408170"/>
            <a:ext cx="585806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proyecto: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servicio WCF (.NET Framework)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52387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estructura del proyecto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5450" y="574929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contrato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5450" y="625983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05450" y="677037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728091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77914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87150" y="3657600"/>
            <a:ext cx="6038850" cy="2506980"/>
          </a:xfrm>
          <a:prstGeom prst="roundRect">
            <a:avLst>
              <a:gd name="adj" fmla="val 3040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11715750" y="3848100"/>
            <a:ext cx="5762816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CONUNI_SOAP_DOTNET_GR02/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CONUNI_SOAP_DOTNET_GR02.csproj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Web.config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Binding, endpoints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Activación IIS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IService1.cs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Credenciales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TestClient.cs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Prueba interna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43500" y="9772650"/>
            <a:ext cx="68279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04 DESARROLLO · 4.1 SERVIDOR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5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0231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45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796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65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5849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47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8902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77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1955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4.1.3 — CONTRATO DEL SERVICIO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09650"/>
            <a:ext cx="12753975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</a:t>
            </a: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métodos expuestos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440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0265"/>
            <a:ext cx="6038850" cy="6092190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29815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Autenticación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Temperatura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"fahrenheitACelsius"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FahrenheitACelsius(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Kelvin, Longitud, Peso/Masa…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96465"/>
            <a:ext cx="224790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27260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0" y="2329815"/>
            <a:ext cx="1981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35050" y="2196465"/>
            <a:ext cx="379095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35050" y="27260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3906500" y="2329815"/>
            <a:ext cx="356177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SOAP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487150" y="366331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658600" y="286702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35050" y="366331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13906500" y="286702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celsiusAFahrenheit · fahrenheitACelsius · celsiusAKelvin · kelvinACelsius · fahrenheitAKelvin · kelvinAFahrenheit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87150" y="3670935"/>
            <a:ext cx="6038850" cy="93726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46005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1658600" y="380428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735050" y="46005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906500" y="380428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metrosAPies · piesAMetros · metrosAPulgadas · pulgadasAMetros · kilometrosAMillas · millasAKilometros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487150" y="53168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11658600" y="4741545"/>
            <a:ext cx="1981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/ Masa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735050" y="53168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0" y="4741545"/>
            <a:ext cx="356177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kilogramosALibras · librasAKilogramos · gramosAOnzas · onzasAGramos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87150" y="5324475"/>
            <a:ext cx="6038850" cy="54102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87150" y="58578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11658600" y="54578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3735050" y="58578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3906500" y="5457825"/>
            <a:ext cx="3561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login( usuario, contraseña ) → bool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487150" y="5869305"/>
            <a:ext cx="622001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Métodos del servicio WCF de conversión.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143500" y="9772650"/>
            <a:ext cx="52085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4.1.3 CONTRATO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37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4.1.4 / 4.1.5 — LÓGICA DEL SERVIDOR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+ </a:t>
            </a:r>
            <a:r>
              <a:rPr lang="en-US" sz="315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253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01585"/>
            <a:ext cx="6038850" cy="6632982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11135"/>
            <a:ext cx="5724716" cy="351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  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Contrasena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"MONSTER9"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ValidarCredenciales(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.IsNullOrEmpty(u) ||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.IsNullOrEmpty(p))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Usuario.Equals(u.Trim().ToUpper())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Contrasena.Equals(p.Trim());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14734" y="8866915"/>
            <a:ext cx="6220016" cy="701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centralizadas en el servidor — los clientes nunca las conocen.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87150" y="2101585"/>
            <a:ext cx="6038850" cy="6837699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1734800" y="2311135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WSConversion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_auth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_auth.ValidarCredenciales(u,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(c * 9.0 / 5.0) + 32.0;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MetrosAPies(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m * 3.28084;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KilogramosALibras(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k * 2.20462;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848816" y="9032643"/>
            <a:ext cx="6220016" cy="3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— temperatura · longitud · peso/masa.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 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07167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4.1.6 / 4.1.7 — CONFIGURACIÓN Y PUBLICACIÓN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503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Publicar en IIS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507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6985"/>
            <a:ext cx="6038850" cy="7855216"/>
          </a:xfrm>
          <a:prstGeom prst="roundRect">
            <a:avLst>
              <a:gd name="adj" fmla="val 183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36535"/>
            <a:ext cx="5724716" cy="769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serviceMetadata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httpGetEnabled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serviceDebug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includeExceptionDetailInFaults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"basicHttpBinding"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"…IWSConversion"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"IMetadataExchange"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26985"/>
            <a:ext cx="6038850" cy="3185451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530397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87150" y="2126985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87150" y="2126985"/>
            <a:ext cx="76200" cy="318545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7517533" y="2126985"/>
            <a:ext cx="9525" cy="318545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9" name="Text 27"/>
          <p:cNvSpPr/>
          <p:nvPr/>
        </p:nvSpPr>
        <p:spPr>
          <a:xfrm>
            <a:off x="11772900" y="2383102"/>
            <a:ext cx="57011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34850" y="2846652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derecho ›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destino IIS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34850" y="3357166"/>
            <a:ext cx="5339186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Manager: crear sitio apuntando a la carpeta publicada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34850" y="4187693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8085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Application Pool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4.0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34850" y="4698206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aspNetCompatibilityEnabled = true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87150" y="5483887"/>
            <a:ext cx="6038850" cy="1672696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7148116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87150" y="5483887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7150" y="5483887"/>
            <a:ext cx="76200" cy="16726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7517533" y="5483887"/>
            <a:ext cx="9525" cy="1672696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9" name="Text 37"/>
          <p:cNvSpPr/>
          <p:nvPr/>
        </p:nvSpPr>
        <p:spPr>
          <a:xfrm>
            <a:off x="11772900" y="5682853"/>
            <a:ext cx="57011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— WSDL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772900" y="5930503"/>
            <a:ext cx="57011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accesibles desde el navegador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772900" y="6277637"/>
            <a:ext cx="5535084" cy="679979"/>
          </a:xfrm>
          <a:prstGeom prst="roundRect">
            <a:avLst>
              <a:gd name="adj" fmla="val 11206"/>
            </a:avLst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11925300" y="6410987"/>
            <a:ext cx="5396336" cy="451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http://localhost:8085/Service1.svc?wsdl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http://192.168.5.75:8085/Service1.svc?wsdl  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IP real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 SERVIDOR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2533"/>
            <a:ext cx="1975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— CLIENTE DE CONSOLA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ChannelFactory&lt;T&gt;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130160"/>
            <a:ext cx="12753975" cy="709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C# (.NET Framework) con arquitectura MVC que replica la interfaz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localmente.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canal sin proxy generado por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030140"/>
            <a:ext cx="5643496" cy="5126699"/>
          </a:xfrm>
          <a:prstGeom prst="roundRect">
            <a:avLst>
              <a:gd name="adj" fmla="val 1987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372100" y="3220641"/>
            <a:ext cx="5355601" cy="349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CONUNI_SOAP_DOTNET_CLICON_G02/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ControladorConsola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Conversion.cs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servicios/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IWSConversion.cs    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Contrato replicado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ClienteConversionSOAP.cs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controlador/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ControladorConsola.cs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VistaLogin.cs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VistaMenu.cs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091796" y="3030141"/>
            <a:ext cx="6434204" cy="6528726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9446" y="3239691"/>
            <a:ext cx="6131930" cy="674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_f;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_proxy;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ClienteConversionSOAP()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binding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_f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binding,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_proxy = _f.CreateChannel();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 =&gt; _proxy.Login(u,p);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v) =&gt; _proxy…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43500" y="9766300"/>
            <a:ext cx="5828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4.2 CLIENTE CONSOLA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67983"/>
            <a:ext cx="22010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ESCRITORIO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· paleta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Inc.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206360"/>
            <a:ext cx="6220016" cy="104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Windows Forms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intercambiables: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PanelTemperatura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PanelLongitud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PanelPeso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9893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21A9D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4352197"/>
            <a:ext cx="110146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· #21A9DA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258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669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2111" y="4352197"/>
            <a:ext cx="1091605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· #F66971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43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5D88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0865" y="4352197"/>
            <a:ext cx="1417704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· #F5D880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502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8C6BC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5719" y="4352197"/>
            <a:ext cx="143973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PÚRPURA · #8C6BCD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3500" y="4699331"/>
            <a:ext cx="6220016" cy="31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</a:t>
            </a: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intentos máximos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 éxito →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11734800" y="2415910"/>
            <a:ext cx="5724716" cy="47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 = _proxy.CelsiusAFahrenheit(c);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ValorOriginal   = c,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ValorConvertido = r,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UnidadOrigen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UnidadDestino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"°F"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Categoria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Exito    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3500" y="9766300"/>
            <a:ext cx="60926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4.3 CLIENTE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493433"/>
            <a:ext cx="21234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WEB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+ Sesión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43500" y="2206360"/>
            <a:ext cx="6038850" cy="6893190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1150" y="2415910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 - pipeline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builder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.CreateBuilder(args);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builder.Services.AddControllersWithViews();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builder.Services.AddDistributedMemoryCache();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builder.Services.AddSession(o =&gt;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o.IdleTimeout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TimeSpan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.FromMinutes(30);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o.Cookie.HttpOnly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o.Cookie.IsEssential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app = builder.Build();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app.UseStaticFiles();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app.UseMiddleware&lt;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ExceptionHandlingMiddleware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app.UseSession();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app.MapControllerRoute(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"{controller=Login}/{action=Index}/{id?}"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87150" y="2206360"/>
            <a:ext cx="6038850" cy="6637389"/>
          </a:xfrm>
          <a:prstGeom prst="roundRect">
            <a:avLst>
              <a:gd name="adj" fmla="val 1557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34800" y="2415910"/>
            <a:ext cx="5724716" cy="451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ConversionSoapClient.cs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ConversionSoapClient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ClientBase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ConversionSoapClient(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: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(CreateBinding(),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(ep)) {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32210" y="9113759"/>
            <a:ext cx="12753975" cy="594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HttpContext.Session.SetString("usuario", ...)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validar contra SOAP, y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sesión antes de cada conversión.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3500" y="9766300"/>
            <a:ext cx="53091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4.4 CLIENTE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4782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— CLIENTE MÓVIL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 con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505450" y="2377810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Kotlin DSL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05450" y="2888324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Component + Fragments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5450" y="3398838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ksoap2-android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envelope SOAP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5450" y="3913584"/>
            <a:ext cx="5858066" cy="68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Corrutinas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para llamadas no bloqueantes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5450" y="4748345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Cleartext +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network_security_config.xml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43500" y="5320241"/>
            <a:ext cx="6038850" cy="3483901"/>
          </a:xfrm>
          <a:prstGeom prst="roundRect">
            <a:avLst>
              <a:gd name="adj" fmla="val 2508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5510742"/>
            <a:ext cx="5762816" cy="269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ec.edu.monster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modelo/Conversion.kt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servidor/ClienteAutenticacionSoap.kt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controlador/ControladorConversion.kt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LoginFragment.kt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InicioFragment.kt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TemperaturaFragment.kt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LongitudFragment.kt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PesoFragment.kt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351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734800" y="2415910"/>
            <a:ext cx="5724716" cy="726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ClienteAutenticacionSoap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NAMESPACE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login(u: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withContext(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.IO)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req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SoapObject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(NAMESPACE,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   u)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"contrasena"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env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SoapSerializationEnvelope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.VER11).apply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setOutputSoapObject(req)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HttpTransportSE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(URL, 30_000)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.call(NAMESPACE +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env)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env.response?.toString() ==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54902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4.5 CLIENTE MÓVIL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83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07883"/>
            <a:ext cx="120001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2206360"/>
            <a:ext cx="76200" cy="1801548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1508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Text 26"/>
          <p:cNvSpPr/>
          <p:nvPr/>
        </p:nvSpPr>
        <p:spPr>
          <a:xfrm>
            <a:off x="5448300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8300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interoperable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8300" y="3069961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expone servicios SOAP consumibles desde cuatro plataformas distintas. El mismo endpoint atiende a clientes .NET y a un cliente Android/Kotlin sin cambios en el servidor.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9525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9525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9525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2206360"/>
            <a:ext cx="76200" cy="1801548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17533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744325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44325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44325" y="3069961"/>
            <a:ext cx="5710947" cy="52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la interfaz en los clientes evita regenerar proxies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cambia el contrato y centraliza la configuración del canal.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143500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4217458"/>
            <a:ext cx="76200" cy="1805781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21508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8300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8300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en Android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8300" y="5081058"/>
            <a:ext cx="5710947" cy="762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Kotlin consume el servicio WCF respetando solo el namespace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nombres de operación — interoperabilidad real.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1439525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9525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9525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4217458"/>
            <a:ext cx="76200" cy="180578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7533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744325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744325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44325" y="5081058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BDD simplifica el despliegue y demuestra que un WCF es plenamente funcional para cómputo puro, facilitando portabilidad y mantenimiento.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143500" y="9766300"/>
            <a:ext cx="544884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05 CONCLUSIONES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4097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769783"/>
            <a:ext cx="147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REFERENCIAS BIBLIOGRÁFICAS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505450" y="2301610"/>
            <a:ext cx="123920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learn.microsoft.com/en-us/dotnet/framework/wcf/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313213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learn.microsoft.com/en-us/aspnet/core/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3642651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Project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— Port of WCF to .NET Core.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github.com/CoreWCF/CoreWCF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4153165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simpligility (2023).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— SOAP client for Android.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github.com/simpligility/ksoap2-android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466367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Coroutines Guide.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kotlinlang.org/docs/coroutines-guide.html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34613" y="8911167"/>
            <a:ext cx="1991386" cy="41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534613" y="9326034"/>
            <a:ext cx="1991386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05 · 2025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43500" y="9766300"/>
            <a:ext cx="53178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07 BIBLIOGRAFÍA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3352</Words>
  <Application>Microsoft Office PowerPoint</Application>
  <PresentationFormat>Personalizado</PresentationFormat>
  <Paragraphs>717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G</cp:lastModifiedBy>
  <cp:revision>2</cp:revision>
  <dcterms:created xsi:type="dcterms:W3CDTF">2026-05-13T17:47:48Z</dcterms:created>
  <dcterms:modified xsi:type="dcterms:W3CDTF">2026-05-13T19:45:36Z</dcterms:modified>
</cp:coreProperties>
</file>