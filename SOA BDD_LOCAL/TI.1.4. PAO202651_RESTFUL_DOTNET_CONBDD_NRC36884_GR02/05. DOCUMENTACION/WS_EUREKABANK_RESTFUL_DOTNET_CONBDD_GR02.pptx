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1" r:id="rId4"/>
    <p:sldId id="325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4" r:id="rId23"/>
    <p:sldId id="345" r:id="rId24"/>
    <p:sldId id="346" r:id="rId25"/>
    <p:sldId id="347" r:id="rId26"/>
    <p:sldId id="350" r:id="rId27"/>
    <p:sldId id="352" r:id="rId28"/>
    <p:sldId id="353" r:id="rId29"/>
    <p:sldId id="354" r:id="rId30"/>
    <p:sldId id="358" r:id="rId31"/>
    <p:sldId id="360" r:id="rId32"/>
    <p:sldId id="362" r:id="rId33"/>
    <p:sldId id="384" r:id="rId34"/>
    <p:sldId id="385" r:id="rId35"/>
    <p:sldId id="363" r:id="rId36"/>
    <p:sldId id="364" r:id="rId37"/>
    <p:sldId id="365" r:id="rId38"/>
    <p:sldId id="366" r:id="rId39"/>
    <p:sldId id="367" r:id="rId40"/>
    <p:sldId id="386" r:id="rId41"/>
    <p:sldId id="368" r:id="rId42"/>
    <p:sldId id="369" r:id="rId43"/>
    <p:sldId id="387" r:id="rId44"/>
    <p:sldId id="370" r:id="rId45"/>
    <p:sldId id="371" r:id="rId46"/>
    <p:sldId id="373" r:id="rId47"/>
    <p:sldId id="374" r:id="rId48"/>
    <p:sldId id="375" r:id="rId49"/>
    <p:sldId id="376" r:id="rId50"/>
    <p:sldId id="377" r:id="rId51"/>
    <p:sldId id="388" r:id="rId52"/>
    <p:sldId id="389" r:id="rId53"/>
    <p:sldId id="391" r:id="rId54"/>
    <p:sldId id="390" r:id="rId55"/>
    <p:sldId id="392" r:id="rId56"/>
    <p:sldId id="380" r:id="rId57"/>
    <p:sldId id="381" r:id="rId58"/>
    <p:sldId id="383" r:id="rId59"/>
    <p:sldId id="393" r:id="rId60"/>
    <p:sldId id="324" r:id="rId61"/>
    <p:sldId id="262" r:id="rId62"/>
    <p:sldId id="263" r:id="rId6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Villarruel" initials="MV" lastIdx="2" clrIdx="0">
    <p:extLst>
      <p:ext uri="{19B8F6BF-5375-455C-9EA6-DF929625EA0E}">
        <p15:presenceInfo xmlns:p15="http://schemas.microsoft.com/office/powerpoint/2012/main" userId="Michael Villarru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60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04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15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8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27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00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83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54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50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19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80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51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56176-055A-4F41-9A1C-5A8ABC57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5" y="3089844"/>
            <a:ext cx="10993549" cy="1578409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MANUAL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chemeClr val="bg1"/>
                </a:solidFill>
              </a:rPr>
              <a:t>EUREKA BANK CON SOAP Y BASE DE DATOS- .NET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0C571E-A349-4667-927F-5916BE60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</p:spPr>
        <p:txBody>
          <a:bodyPr>
            <a:normAutofit/>
          </a:bodyPr>
          <a:lstStyle/>
          <a:p>
            <a:r>
              <a:rPr lang="es-EC" b="1" dirty="0">
                <a:solidFill>
                  <a:schemeClr val="bg1"/>
                </a:solidFill>
              </a:rPr>
              <a:t>Integrantes:</a:t>
            </a:r>
            <a:r>
              <a:rPr lang="es-EC" dirty="0">
                <a:solidFill>
                  <a:schemeClr val="bg1"/>
                </a:solidFill>
              </a:rPr>
              <a:t> 	PALLANGO ANDRÉS</a:t>
            </a:r>
          </a:p>
          <a:p>
            <a:r>
              <a:rPr lang="es-EC" dirty="0">
                <a:solidFill>
                  <a:schemeClr val="bg1"/>
                </a:solidFill>
              </a:rPr>
              <a:t>				TITUAÑA LIZARDO</a:t>
            </a:r>
          </a:p>
        </p:txBody>
      </p:sp>
      <p:pic>
        <p:nvPicPr>
          <p:cNvPr id="1026" name="Picture 2" descr="Resultado de imagen para espe">
            <a:extLst>
              <a:ext uri="{FF2B5EF4-FFF2-40B4-BE49-F238E27FC236}">
                <a16:creationId xmlns:a16="http://schemas.microsoft.com/office/drawing/2014/main" id="{F414D571-4BC8-480A-8CAB-8B16FE51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7" y="716302"/>
            <a:ext cx="11647502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1967A448-01D9-4956-A50F-F9BFFBEC42EB}"/>
              </a:ext>
            </a:extLst>
          </p:cNvPr>
          <p:cNvSpPr txBox="1">
            <a:spLocks/>
          </p:cNvSpPr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FECHA:  </a:t>
            </a:r>
            <a:r>
              <a:rPr lang="es-EC" b="1" dirty="0">
                <a:solidFill>
                  <a:prstClr val="white"/>
                </a:solidFill>
                <a:latin typeface="Gill Sans MT" panose="020B0502020104020203"/>
              </a:rPr>
              <a:t>11/12/2024</a:t>
            </a:r>
            <a:endParaRPr lang="es-EC" dirty="0">
              <a:solidFill>
                <a:prstClr val="white"/>
              </a:solidFill>
              <a:latin typeface="Gill Sans MT" panose="020B0502020104020203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Ing</a:t>
            </a:r>
            <a:r>
              <a:rPr kumimoji="0" lang="es-EC" sz="16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: </a:t>
            </a:r>
            <a:r>
              <a:rPr kumimoji="0" lang="es-EC" sz="1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Campaña mauricio</a:t>
            </a:r>
            <a:endParaRPr kumimoji="0" lang="es-EC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78AAB0-61A1-4632-A25D-4FC9433D59B1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686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CC8BE-29CF-4C4C-BE9D-AC08DC5E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701336"/>
            <a:ext cx="3389726" cy="5424255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s-ES" dirty="0">
                <a:solidFill>
                  <a:schemeClr val="bg1"/>
                </a:solidFill>
              </a:rPr>
              <a:t>DESARROLLO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OBJETIVO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MODELO CONCEPTUAL DE LA BASE DE DATOS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CREAR BASE DE DATOS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CREACIÓN DEL SERVIDOR SOAP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CREAR BASE DE DATOS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SERVIDOR SOAP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PROYECTO – CLIENTE CONSOLA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PROYECTO – CLIENTE ESCRITORIO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PROYECTO – CLIENTE WEB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PROYECTO – CLIENTE MOVIL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 dirty="0">
                <a:solidFill>
                  <a:schemeClr val="bg1"/>
                </a:solidFill>
              </a:rPr>
              <a:t>CONCLUSIONES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 dirty="0">
                <a:solidFill>
                  <a:schemeClr val="bg1"/>
                </a:solidFill>
              </a:rPr>
              <a:t>RECOMENDACIONES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 dirty="0">
                <a:solidFill>
                  <a:schemeClr val="bg1"/>
                </a:solidFill>
              </a:rPr>
              <a:t>BIBLIOGRAFÍA</a:t>
            </a:r>
          </a:p>
        </p:txBody>
      </p:sp>
      <p:pic>
        <p:nvPicPr>
          <p:cNvPr id="6" name="Picture 2" descr="Resultado de imagen para AGENDA PNG">
            <a:extLst>
              <a:ext uri="{FF2B5EF4-FFF2-40B4-BE49-F238E27FC236}">
                <a16:creationId xmlns:a16="http://schemas.microsoft.com/office/drawing/2014/main" id="{BEAB8E00-371D-4C0F-B6B7-9BEE622A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935576"/>
            <a:ext cx="6489819" cy="300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A76E918-E1AF-47F5-B0A9-06C8BD2DAC04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37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	OBJETIVO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Desarrollar e implementar un Web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utilizando 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mediante .NET para realizar el registro y consulta de movimientos monetarios, ilustrando los pasos generales para su creación.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14114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1380851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	MODELO CONCEPTUAL DE LA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A continuación, se presente el modelo conceptual de la base de datos “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EurekaBank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2E74AF4A-95D3-AA33-0A89-A28683D19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182" y="3504065"/>
            <a:ext cx="7357443" cy="2950828"/>
          </a:xfrm>
          <a:prstGeom prst="rect">
            <a:avLst/>
          </a:prstGeom>
          <a:ln w="762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65893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2.3	CREAR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Al abrir SQL Server, se seleccionará el nombre del servidor en el cual se alojará la base de datos y se procede a conectar.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3379B6-2E16-4E0B-757A-3E947FA51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176" y="3677700"/>
            <a:ext cx="4420235" cy="269367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7206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Para crear la base de datos, se debe crear un nuevo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ejecución como se muestra a continuación.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CF2769E-8A66-A057-FCD4-B95243582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71" y="3429000"/>
            <a:ext cx="3392548" cy="28930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7065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013800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Se procede a pegar el script de ejecución y se dará clic en “Ejecutar” para crear la base de datos.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4F5593-AA84-4BDA-A5E0-809E0ECEEB1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52399" y="3445042"/>
            <a:ext cx="3901670" cy="307919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745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Para verificar la creación de la base de datos, se abrirá la carpeta “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Databases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y se procederá a verificar la existencia del nombre de la base de datos creada.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BE21177-1F0B-9AB7-E7C2-478C39E6C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528" y="3512976"/>
            <a:ext cx="2808302" cy="293744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59156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	Una vez creada la base de datos, a continuación, se procede a ejecutar el script de ingreso de datos. Para ello, se creará un nuevo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se pegará el script de inserción y a continuación se ejecutará el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6C4C00B-A3F1-E235-1512-89BF27E354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246" t="19608"/>
          <a:stretch/>
        </p:blipFill>
        <p:spPr bwMode="auto">
          <a:xfrm>
            <a:off x="3191817" y="3578290"/>
            <a:ext cx="3368189" cy="2837792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9239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2.4	Creación del Servidor 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Al abrir Visual Studio, se deberá seleccionar el tipo de proyecto ASP .NET Web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C#.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B6C3182-1AFD-3204-C1BD-0EDE0418A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226" y="3429000"/>
            <a:ext cx="4438650" cy="295275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63893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A continuación, se procede a configurar el proyecto con el nombre y la ubicación.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C6D212-94D2-7DF6-134D-D0E4DFD1D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209" y="3334078"/>
            <a:ext cx="4351853" cy="2821766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261152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Finalmente, se 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mostrará Información adicional a elegir en el proyecto.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11DE410-8F45-0AFE-70E6-4D13A01F2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011" y="3429000"/>
            <a:ext cx="5240119" cy="2678592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65198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Una vez creado el proyecto, se procede a crear la estructura como se muestra a continuación.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17358598-57F2-116F-809C-2576E77A6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315" y="3429000"/>
            <a:ext cx="4967288" cy="260674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70467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96352"/>
            <a:ext cx="8589441" cy="915629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	Para llamar el modelo de la base de datos anteriormente creada, se procede a crear un nuevo ítem dando clic derecho en la carpeta BD.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287B33-7C13-EF93-A90B-004DED35E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686" y="3317824"/>
            <a:ext cx="7233518" cy="1496651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97848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	Ahora, se debe seleccionar el tipo de archivo ADO .NET.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C04DC9-C534-41FF-AEB2-E9CF383F13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75284" y="3110939"/>
            <a:ext cx="4662637" cy="3405005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65983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910597" cy="3975347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En el asistente de creación se deberá especificar la opción EF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Designer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BF81FA-FAEA-4633-9D72-939F65DAD2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931994" y="2161235"/>
            <a:ext cx="4107749" cy="4251485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91715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054976" cy="3851335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Se seleccionará el tipo de Data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“Microsoft SQL Server”.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40A6D1-0753-44CB-9503-8FB213C79D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021179" y="2418112"/>
            <a:ext cx="4173931" cy="3436172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00488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782259" cy="3975347"/>
          </a:xfrm>
        </p:spPr>
        <p:txBody>
          <a:bodyPr/>
          <a:lstStyle/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	En las propiedades de conexión se seleccionará el nombre del servidor y el nombre de la base de datos del ejercicio.</a:t>
            </a:r>
            <a:endParaRPr lang="en-U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44A63C-12D7-4FFC-9FFC-0F9F900CB3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50641" y="2006693"/>
            <a:ext cx="3319780" cy="456057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10799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878513" cy="3975347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	Finalmente, se procede a seleccionar la conexión de la cual se va a extraer la información para el uso del web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1C726-AA56-4860-B5A8-2922847A7C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21070" y="2000516"/>
            <a:ext cx="4201261" cy="4335305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66044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942682" cy="3975347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11.	Para seleccionar la manera en la que se van a extraer datos, se debe seleccionar la versión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Entity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Framework 6.x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5E2139-A606-40AD-914F-22E84C4B70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69737" y="2037567"/>
            <a:ext cx="4368098" cy="4498821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37970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311650" cy="3975347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12.	Se especificarán los datos que se van a traer al proyecto del servidor. En este caso se extraerá información de las tablas.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8FA775-43DC-4429-AE67-DF9830A16C3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64155" y="2259105"/>
            <a:ext cx="3745865" cy="4055745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2810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013800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13.	A continuación, se procede a crear la clase del modelo dando clic derecho sobre la carpeta modelo y agregando un nuevo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item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5BA9ECD-406F-065C-19FF-737F24EF4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801" y="3067743"/>
            <a:ext cx="5225064" cy="359115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26254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787292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14.	Una vez creada la clase, se procede a agregar los atributos,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getters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setters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permitan realizar una interacción entre el modelo y el servidor.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- CLIENTE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E8C335C-7615-4F9E-DD6D-D56355D6A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400" y="2967789"/>
            <a:ext cx="3676875" cy="3629329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6911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15.	En la carpeta servicios, se procede a dar clic derecho, agregar nuevo elemento y se seleccionará la opción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agregar los métodos que permitan interactuar con la base de datos.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09D1220-FE07-1D54-64E6-A9537BB45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354" y="3042364"/>
            <a:ext cx="5704181" cy="3703815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786300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16.	Una vez creada la clase, se procede a agregar los métodos de leer movimientos y registrar depósitos.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9DF4C2A-32A7-5762-2B22-FFCA98F57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06" y="2976087"/>
            <a:ext cx="5925377" cy="3153215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CA02E5F-87CC-C94C-28BA-B77D4806F0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335"/>
          <a:stretch/>
        </p:blipFill>
        <p:spPr>
          <a:xfrm>
            <a:off x="4573544" y="2976086"/>
            <a:ext cx="4674728" cy="3153215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10875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17.	Para verificar su funcionamiento, se procede a ejecutar el proyecto y como resultado, se obtendrá una ventana similar a la siguiente.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8624B21B-FD8A-CDB9-DBF4-2C8D81F354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15" b="4231"/>
          <a:stretch/>
        </p:blipFill>
        <p:spPr bwMode="auto">
          <a:xfrm>
            <a:off x="1235182" y="3206038"/>
            <a:ext cx="7117556" cy="270024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02611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	CREACIÓN DEL PROYECTO – CLIENTE CONSOLA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Se creará un proyecto del tipo Web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se brindará el nombre y la ubicación del proyecto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5FFD2E-7C92-FC06-AC40-F410A72DE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3346345"/>
            <a:ext cx="8308103" cy="251327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48556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Para el Proyecto del Cliente, se debe seleccionar el tipo de proyecto MVC, de manera que se cree la estructura: Modelo, Vista y Controlador.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C4326F04-3C7D-1EA2-D6B7-08BB2DE4C1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02" b="5340"/>
          <a:stretch/>
        </p:blipFill>
        <p:spPr bwMode="auto">
          <a:xfrm>
            <a:off x="2030960" y="3069900"/>
            <a:ext cx="6231718" cy="2659095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22546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Para agregar el servicio se debe dar clic derecho sobre el proyecto y seleccionar la opción agregar nueva referencia de servicio.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AD6384-B668-BEA6-E735-7C928DC0A1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460"/>
          <a:stretch/>
        </p:blipFill>
        <p:spPr bwMode="auto">
          <a:xfrm>
            <a:off x="2388578" y="2853019"/>
            <a:ext cx="4777331" cy="3865022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60837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En la clase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Program.cs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agregarán aquellos métodos que logren conectar la vista con los métodos del servidor como se indica a continuación.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571A4CE-DE6C-418F-351A-E1857B49E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594" y="2861186"/>
            <a:ext cx="4044950" cy="3860165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6770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La vista de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MovimientosB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desplegará un formulario para realizar la consulta de los movimientos de un número de cuenta.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40D3E7-C863-AC20-6170-1639F540F4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771"/>
          <a:stretch/>
        </p:blipFill>
        <p:spPr bwMode="auto">
          <a:xfrm>
            <a:off x="1876973" y="3056747"/>
            <a:ext cx="6210943" cy="2784216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10348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	La vista de Registrar 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Retiro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desplegará un formulario para llenar el campo Cuenta y la cantidad de importe.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C4A68195-AD54-0EA1-61A1-4033F6FF7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757" y="2418112"/>
            <a:ext cx="4039848" cy="2683977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631002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5F699-4E4C-DF2D-5B75-42785135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C50CD-46A5-15E3-6CCE-EFA48DC01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ACFDD7-B1D6-665C-1862-7FF905DCC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La vista de Registrar 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transferencia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desplegará un formulario para llenar el campo Cuenta  de origen y de destino y la cantidad de importe.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FA0604-46D5-D9AD-CED7-F1FD792BDF81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2084B852-453C-BB24-B6A3-8A304C2D0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746" y="2339652"/>
            <a:ext cx="4403257" cy="3096141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99625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FFAAA-438D-6D8C-A8F3-A625C8FBE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C1507-CF33-033B-7410-993BC132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B77FB1-A047-9C54-4932-85F0AC26F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La vista de Registrar Deposito desplegará un formulario para llenar el campo Cuenta y la cantidad de importe.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4239064-2B2D-C4FF-3780-B5EC45779015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0098C7-1F7D-F71F-FE62-5867514D7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857" y="2201545"/>
            <a:ext cx="3804285" cy="245491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657428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Creamos un nuevo proyecto Aplicación de Windows </a:t>
            </a:r>
            <a:r>
              <a:rPr lang="es-E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Forms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(.NET Framework)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AC1E05-EC15-FB0D-423E-D2CE228E52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67"/>
          <a:stretch/>
        </p:blipFill>
        <p:spPr bwMode="auto">
          <a:xfrm>
            <a:off x="1480939" y="3292473"/>
            <a:ext cx="7003012" cy="282726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574897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Estructura Inicial del proyecto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DF442B0C-07FD-7BE7-2CA0-2F8219870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361" y="3120268"/>
            <a:ext cx="3460287" cy="2399011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027208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Creaci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ón de la clase Movimiento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5CBB72-9B78-AE85-929B-2C7D3B5D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29" y="2747060"/>
            <a:ext cx="4693968" cy="325814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93150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Creación controlador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EurekaController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9592AA6C-E155-6AB8-AF4D-6F160A496D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99" b="5429"/>
          <a:stretch/>
        </p:blipFill>
        <p:spPr bwMode="auto">
          <a:xfrm>
            <a:off x="3093395" y="2729756"/>
            <a:ext cx="5003639" cy="2662031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21519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	</a:t>
            </a:r>
            <a:r>
              <a:rPr lang="es-E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</a:t>
            </a:r>
            <a:r>
              <a:rPr lang="es-EC" sz="2000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ña</a:t>
            </a:r>
            <a:r>
              <a:rPr lang="es-EC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Login Aplicación Escritorio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DBBB17C-43B5-5D57-02E5-EE9DF4D04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89" y="2418112"/>
            <a:ext cx="4728410" cy="3138177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950991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39B71-91E4-CD0B-3A18-AB57031E7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715B3-A89F-251B-E062-B6A2ED3D7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68B684-C317-5DB4-5E11-0DA7904E7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	</a:t>
            </a:r>
            <a:r>
              <a:rPr lang="es-E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</a:t>
            </a:r>
            <a:r>
              <a:rPr lang="es-EC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ña Principal Aplicación Escritorio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356EF4E-53B7-BAF4-DA17-6AF8F7A6E929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ACBF6BA-63CD-AFED-6F84-C860C053C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128" y="2645856"/>
            <a:ext cx="4806968" cy="2794768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654343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Pestaña Movimientos Escritorio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abla&#10;&#10;Descripción generada automáticamente">
            <a:extLst>
              <a:ext uri="{FF2B5EF4-FFF2-40B4-BE49-F238E27FC236}">
                <a16:creationId xmlns:a16="http://schemas.microsoft.com/office/drawing/2014/main" id="{5F330E59-D6A1-7306-4128-F97A6B792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693" y="2650984"/>
            <a:ext cx="4887356" cy="3083607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0372201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Pestaña </a:t>
            </a:r>
            <a:r>
              <a:rPr lang="es-E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Depositos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D3C52470-7422-0753-E9E2-22AE59A2F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545" y="2546623"/>
            <a:ext cx="5070964" cy="285668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1321451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07998-D763-EB58-E20F-9AC016E4B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AACF4-07FB-BE71-E394-4CB77205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3EF540-27F8-A01E-C7A1-81722FA13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Pestaña 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Retiros.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F7D1DD0-F5AB-1F7A-43EB-1947A150016D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9B95555E-8A9C-AE37-FEC9-70A7BAE4D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81" y="2401447"/>
            <a:ext cx="4953465" cy="2790488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697333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986220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Creación nuevo proyecto MVC ASP.NET aplicación web.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F0247CC-8BE3-C221-9195-0B7CA5F86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757" y="3295137"/>
            <a:ext cx="4801516" cy="2685785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0229033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986220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Estructura Inicial WEB.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2916F3C-BC4F-63E9-A7A5-F9DD6ECFF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457" y="3699264"/>
            <a:ext cx="5005975" cy="1826079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202911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Creación modelo Movimiento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9B9490B4-63DE-B0B9-AB5A-8E6AFF3D0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428" y="3028372"/>
            <a:ext cx="2934499" cy="2972121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38357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820EA554-3B9D-3E5E-6E11-E83E6E221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697" y="1474755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Creación del </a:t>
            </a:r>
            <a:r>
              <a:rPr lang="es-E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cotrolador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s-E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login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DE298CD9-C701-2EC3-B0CB-4B4DC6E10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362" y="2997872"/>
            <a:ext cx="6238166" cy="2068649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6544407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CC3656A-848C-00F7-F76B-28A81CEDD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169" y="1530173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Creación del controlador principal	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F86DF48C-8F68-B105-999D-C46BBB3B2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168" y="2735830"/>
            <a:ext cx="5029482" cy="3063043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439621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FC62E4C-3FB6-9505-6778-07DB69A94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034" y="1350064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Program.cs del cliente web</a:t>
            </a:r>
          </a:p>
        </p:txBody>
      </p:sp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A3ADAD5D-8CE9-C614-BA80-54943C521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254" y="2792844"/>
            <a:ext cx="3508521" cy="3196946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591170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3219942"/>
            <a:ext cx="2674627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Pestaña Login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75C45D4-5EEC-22C8-7F2A-781985C62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85" y="2672151"/>
            <a:ext cx="5394170" cy="2552992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048716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B80C9-0064-AEB8-13DC-B4F66AD3A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BBE40-27EE-B5DF-7625-3EFA460C0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A19253B-BA26-5070-F766-E8B13932577E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C449089F-CE61-572E-EE32-FC352D70A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3219942"/>
            <a:ext cx="2674627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Pestaña Principal Web</a:t>
            </a:r>
          </a:p>
        </p:txBody>
      </p:sp>
      <p:pic>
        <p:nvPicPr>
          <p:cNvPr id="3" name="Imagen 2" descr="Interfaz de usuario gráfica, Aplicación, Sitio web, Teams&#10;&#10;Descripción generada automáticamente">
            <a:extLst>
              <a:ext uri="{FF2B5EF4-FFF2-40B4-BE49-F238E27FC236}">
                <a16:creationId xmlns:a16="http://schemas.microsoft.com/office/drawing/2014/main" id="{73B0EC23-F368-B0A5-54AA-2A4F0A07E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807" y="2742452"/>
            <a:ext cx="5016500" cy="239776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259032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B2579-EBEC-3039-136C-008C767E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04CEF-D271-C60A-A41E-9D0C3378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5DA46D2-5E9D-2515-E60D-E6792BFE434D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EEEA5241-72A9-D952-E77D-BC7B258EB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3219942"/>
            <a:ext cx="2674627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Pestaña Movimientos</a:t>
            </a:r>
          </a:p>
        </p:txBody>
      </p:sp>
      <p:pic>
        <p:nvPicPr>
          <p:cNvPr id="4" name="Imagen 3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486A595C-3966-D4A4-86A3-47DCCB244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351" y="2418112"/>
            <a:ext cx="5748841" cy="2687164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060437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D4E8C-B536-617F-7B48-C65952BB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ADFEC-698F-2EFE-0151-AFF2FD9DD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803AD3F-A5C3-57C3-8CE7-7185223BF491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80E80BC9-FEB9-48DC-1A8A-AC4AB5249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3219942"/>
            <a:ext cx="2674627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Pestaña Depósito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737A5092-CC43-D97C-B3E9-1D63B69A0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520" y="2477034"/>
            <a:ext cx="5718503" cy="2665011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220620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96163-054C-07CE-F18A-A2154C7EE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446F3-167A-22C6-BE59-76D4221B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49C18CB-9FF7-37EA-32D4-9FA82A4DDE57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215E7E7-160C-033E-998D-17CECD346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3219942"/>
            <a:ext cx="2674627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Pestaña Retiro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9CEE598-D101-D5BD-BE58-08FD62847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90" y="2520278"/>
            <a:ext cx="5435693" cy="2505049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033619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1A327-F84B-D8C8-D657-933B174F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AAD66-E910-6379-8C90-821DAF03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AEBA7FD-0EE8-55EF-5E37-F99F455D12D1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C86814CE-8148-AC37-3E0B-B0E6A89A9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3219942"/>
            <a:ext cx="2674627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Pestaña 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Transferencia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44BBE90F-B6D6-DFEE-358F-F8A2C5B24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893" y="2617833"/>
            <a:ext cx="5245026" cy="2426361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854770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Estructura cliente móvil, MVC. </a:t>
            </a:r>
          </a:p>
        </p:txBody>
      </p:sp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C31145EB-580D-AA7A-C3BF-8BAEA0C025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295"/>
          <a:stretch/>
        </p:blipFill>
        <p:spPr bwMode="auto">
          <a:xfrm>
            <a:off x="1271646" y="3429000"/>
            <a:ext cx="3882390" cy="208407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Imagen 8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8E0C4B92-F78D-4759-D179-79DDB9035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384" y="3542328"/>
            <a:ext cx="3021965" cy="169545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89604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C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lases principales, Movimiento y  </a:t>
            </a:r>
            <a:r>
              <a:rPr lang="es-ES" sz="2000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MovimientosScreen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F880448-78DB-C1B2-62EF-E0D980F88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970" y="3429000"/>
            <a:ext cx="3186166" cy="1926519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D90F9A6C-E272-DC6F-6F77-4D8C2A874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178" y="3320190"/>
            <a:ext cx="2851639" cy="232483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479662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Ventanas o pantallas en ejecución aplicativo móvil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3767FF1-F11B-90CB-D344-F2CFA84CE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786" y="2826694"/>
            <a:ext cx="1855292" cy="3811489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  <p:pic>
        <p:nvPicPr>
          <p:cNvPr id="8" name="Imagen 7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1EA0A2E-49BB-AD9E-1969-9B19FE0B9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614" y="2826694"/>
            <a:ext cx="1855293" cy="3834246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  <p:pic>
        <p:nvPicPr>
          <p:cNvPr id="10" name="Imagen 9" descr="Interfaz de usuario gráfica, Aplicación&#10;&#10;Descripción generada automáticamente con confianza media">
            <a:extLst>
              <a:ext uri="{FF2B5EF4-FFF2-40B4-BE49-F238E27FC236}">
                <a16:creationId xmlns:a16="http://schemas.microsoft.com/office/drawing/2014/main" id="{BCB1C1F5-0053-E74B-1E9B-515880B6E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443" y="2837842"/>
            <a:ext cx="1777884" cy="3785677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562674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46506-C0D7-4546-D904-0BA865393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BA87-1FF0-FE02-555C-C90A6706F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AD97E13-4301-3128-022B-BDE1A2AA535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85F0321-F1FF-47B3-E5E9-2DC6213A4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Ventanas o pantallas en ejecución aplicativo móvil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7068A0A-9F94-7F40-20A7-6C7540719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044" y="2766391"/>
            <a:ext cx="1835094" cy="3927573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79A1E60-D3EB-9489-756A-AAF35B281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948" y="2766391"/>
            <a:ext cx="1877501" cy="3927573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8F2ADC50-7929-09A5-1C14-AC18833B4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913" y="2766390"/>
            <a:ext cx="1874848" cy="3927574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541124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Los servicios REST son ideales para este tipo de arquitectura debido a su naturaleza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stateless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su capacidad para ser consumidos por cualquier cliente que soporte HTTP.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Utilizar únicamente tecnologías .NET para el servidor y los clientes asegura una mayor cohesión y uniformidad en el desarrollo. Esto facilita la transferencia de conocimientos entre diferentes partes del sistema y mejora la colaboración dentro del equipo de desarrollo.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 proporciona un ecosistema integral que incluye herramientas y bibliotecas maduras y bien soportadas para todas las plataformas objetivo (web, escritorio, móvil y consola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- CLIENTE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28919916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BC33A-CD42-4FC7-A6A8-7EDA27FD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960AD-F226-4240-9557-9B1A5663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500664" cy="36783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Utilizar principios de diseño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RESTful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identifica claramente los recursos, utiliza métodos HTTP adecuados (GET, POST, PUT, DELETE), y emplea códigos de estado HTTP apropiados.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Utiliza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Entity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Framework Core como ORM para simplificar las operaciones de base de datos. Esto no solo mejora la productividad, sino que también asegura un manejo eficiente y seguro de los datos.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4452AF-173F-4A3B-AAAA-2E1E26784C6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- CLIENTE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1795761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90989-CA87-4621-A0C3-233A33CC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FD96C-3240-4673-A01D-AB9F82CF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571686" cy="3678303"/>
          </a:xfrm>
        </p:spPr>
        <p:txBody>
          <a:bodyPr/>
          <a:lstStyle/>
          <a:p>
            <a:pPr marL="243840" marR="0" indent="-24384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43840" algn="l"/>
              </a:tabLst>
            </a:pPr>
            <a:r>
              <a:rPr lang="es-EC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	«Desarrollo y servicios Web.,» 26 SEP 2019. [En línea]. </a:t>
            </a:r>
            <a:r>
              <a:rPr lang="es-EC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Available</a:t>
            </a:r>
            <a:r>
              <a:rPr lang="es-EC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http://www.eumed.net/tesis-doctorales/2007/cavl/Desarrollo%20y%20servicios%20Web.htm. .</a:t>
            </a:r>
            <a:endParaRPr lang="en-U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C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	M. </a:t>
            </a:r>
            <a:r>
              <a:rPr lang="es-EC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Arl</a:t>
            </a:r>
            <a:r>
              <a:rPr lang="es-EC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Rodríguez, “SOA vs. SOAP y REST”, Adictos al trabajo, 2014. . </a:t>
            </a:r>
            <a:endParaRPr lang="en-U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9745E7-07CB-4EAD-AB25-DF4CD32FFD3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- CLIENTE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5142264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4072</Words>
  <Application>Microsoft Office PowerPoint</Application>
  <PresentationFormat>Panorámica</PresentationFormat>
  <Paragraphs>919</Paragraphs>
  <Slides>62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62</vt:i4>
      </vt:variant>
    </vt:vector>
  </HeadingPairs>
  <TitlesOfParts>
    <vt:vector size="67" baseType="lpstr">
      <vt:lpstr>Cambria</vt:lpstr>
      <vt:lpstr>Gill Sans MT</vt:lpstr>
      <vt:lpstr>Symbol</vt:lpstr>
      <vt:lpstr>Wingdings 2</vt:lpstr>
      <vt:lpstr>Dividendo</vt:lpstr>
      <vt:lpstr>MANUAL EUREKA BANK CON SOAP Y BASE DE DATOS- .NET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Aplicación web con MVC implementado en JAVA Caso Practico Saltos “MONSTER”</dc:title>
  <dc:creator>Michael Villarruel</dc:creator>
  <cp:lastModifiedBy>Andres Pallango</cp:lastModifiedBy>
  <cp:revision>53</cp:revision>
  <dcterms:created xsi:type="dcterms:W3CDTF">2020-08-13T07:15:02Z</dcterms:created>
  <dcterms:modified xsi:type="dcterms:W3CDTF">2024-12-12T04:55:06Z</dcterms:modified>
</cp:coreProperties>
</file>