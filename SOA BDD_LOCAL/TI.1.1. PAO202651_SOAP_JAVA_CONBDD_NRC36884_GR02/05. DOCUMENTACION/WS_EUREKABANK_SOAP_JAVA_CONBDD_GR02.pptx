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notesSlide+xml" PartName="/ppt/notesSlides/notesSlide56.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59.xml"/>
  <Override ContentType="application/vnd.openxmlformats-officedocument.presentationml.notesSlide+xml" PartName="/ppt/notesSlides/notesSlide6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6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x="18288000" cy="10287000"/>
  <p:notesSz cx="6858000" cy="9144000"/>
  <p:embeddedFontLst>
    <p:embeddedFont>
      <p:font typeface="Trebuchet MS" charset="1" panose="020B0603020202020204"/>
      <p:regular r:id="rId69"/>
    </p:embeddedFont>
    <p:embeddedFont>
      <p:font typeface="Trebuchet MS Bold" charset="1" panose="020B0703020202020204"/>
      <p:regular r:id="rId7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31.xml" Type="http://schemas.openxmlformats.org/officeDocument/2006/relationships/notesSlide"/><Relationship Id="rId101" Target="notesSlides/notesSlide32.xml" Type="http://schemas.openxmlformats.org/officeDocument/2006/relationships/notesSlide"/><Relationship Id="rId102" Target="notesSlides/notesSlide33.xml" Type="http://schemas.openxmlformats.org/officeDocument/2006/relationships/notesSlide"/><Relationship Id="rId103" Target="notesSlides/notesSlide34.xml" Type="http://schemas.openxmlformats.org/officeDocument/2006/relationships/notesSlide"/><Relationship Id="rId104" Target="notesSlides/notesSlide35.xml" Type="http://schemas.openxmlformats.org/officeDocument/2006/relationships/notesSlide"/><Relationship Id="rId105" Target="notesSlides/notesSlide36.xml" Type="http://schemas.openxmlformats.org/officeDocument/2006/relationships/notesSlide"/><Relationship Id="rId106" Target="notesSlides/notesSlide37.xml" Type="http://schemas.openxmlformats.org/officeDocument/2006/relationships/notesSlide"/><Relationship Id="rId107" Target="notesSlides/notesSlide38.xml" Type="http://schemas.openxmlformats.org/officeDocument/2006/relationships/notesSlide"/><Relationship Id="rId108" Target="notesSlides/notesSlide39.xml" Type="http://schemas.openxmlformats.org/officeDocument/2006/relationships/notesSlide"/><Relationship Id="rId109" Target="notesSlides/notesSlide40.xml" Type="http://schemas.openxmlformats.org/officeDocument/2006/relationships/notesSlide"/><Relationship Id="rId11" Target="slides/slide6.xml" Type="http://schemas.openxmlformats.org/officeDocument/2006/relationships/slide"/><Relationship Id="rId110" Target="notesSlides/notesSlide41.xml" Type="http://schemas.openxmlformats.org/officeDocument/2006/relationships/notesSlide"/><Relationship Id="rId111" Target="notesSlides/notesSlide42.xml" Type="http://schemas.openxmlformats.org/officeDocument/2006/relationships/notesSlide"/><Relationship Id="rId112" Target="notesSlides/notesSlide43.xml" Type="http://schemas.openxmlformats.org/officeDocument/2006/relationships/notesSlide"/><Relationship Id="rId113" Target="notesSlides/notesSlide44.xml" Type="http://schemas.openxmlformats.org/officeDocument/2006/relationships/notesSlide"/><Relationship Id="rId114" Target="notesSlides/notesSlide45.xml" Type="http://schemas.openxmlformats.org/officeDocument/2006/relationships/notesSlide"/><Relationship Id="rId115" Target="notesSlides/notesSlide46.xml" Type="http://schemas.openxmlformats.org/officeDocument/2006/relationships/notesSlide"/><Relationship Id="rId116" Target="notesSlides/notesSlide47.xml" Type="http://schemas.openxmlformats.org/officeDocument/2006/relationships/notesSlide"/><Relationship Id="rId117" Target="notesSlides/notesSlide48.xml" Type="http://schemas.openxmlformats.org/officeDocument/2006/relationships/notesSlide"/><Relationship Id="rId118" Target="notesSlides/notesSlide49.xml" Type="http://schemas.openxmlformats.org/officeDocument/2006/relationships/notesSlide"/><Relationship Id="rId119" Target="notesSlides/notesSlide50.xml" Type="http://schemas.openxmlformats.org/officeDocument/2006/relationships/notesSlide"/><Relationship Id="rId12" Target="slides/slide7.xml" Type="http://schemas.openxmlformats.org/officeDocument/2006/relationships/slide"/><Relationship Id="rId120" Target="notesSlides/notesSlide51.xml" Type="http://schemas.openxmlformats.org/officeDocument/2006/relationships/notesSlide"/><Relationship Id="rId121" Target="notesSlides/notesSlide52.xml" Type="http://schemas.openxmlformats.org/officeDocument/2006/relationships/notesSlide"/><Relationship Id="rId122" Target="notesSlides/notesSlide53.xml" Type="http://schemas.openxmlformats.org/officeDocument/2006/relationships/notesSlide"/><Relationship Id="rId123" Target="notesSlides/notesSlide54.xml" Type="http://schemas.openxmlformats.org/officeDocument/2006/relationships/notesSlide"/><Relationship Id="rId124" Target="notesSlides/notesSlide55.xml" Type="http://schemas.openxmlformats.org/officeDocument/2006/relationships/notesSlide"/><Relationship Id="rId125" Target="notesSlides/notesSlide56.xml" Type="http://schemas.openxmlformats.org/officeDocument/2006/relationships/notesSlide"/><Relationship Id="rId126" Target="notesSlides/notesSlide57.xml" Type="http://schemas.openxmlformats.org/officeDocument/2006/relationships/notesSlide"/><Relationship Id="rId127" Target="notesSlides/notesSlide58.xml" Type="http://schemas.openxmlformats.org/officeDocument/2006/relationships/notesSlide"/><Relationship Id="rId128" Target="notesSlides/notesSlide59.xml" Type="http://schemas.openxmlformats.org/officeDocument/2006/relationships/notesSlide"/><Relationship Id="rId129" Target="notesSlides/notesSlide60.xml" Type="http://schemas.openxmlformats.org/officeDocument/2006/relationships/note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notesMasters/notesMaster1.xml" Type="http://schemas.openxmlformats.org/officeDocument/2006/relationships/notesMaster"/><Relationship Id="rId67" Target="theme/theme2.xml" Type="http://schemas.openxmlformats.org/officeDocument/2006/relationships/theme"/><Relationship Id="rId68" Target="notesSlides/notesSlide1.xml" Type="http://schemas.openxmlformats.org/officeDocument/2006/relationships/notesSlide"/><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71" Target="notesSlides/notesSlide2.xml" Type="http://schemas.openxmlformats.org/officeDocument/2006/relationships/notesSlide"/><Relationship Id="rId72" Target="notesSlides/notesSlide3.xml" Type="http://schemas.openxmlformats.org/officeDocument/2006/relationships/notesSlide"/><Relationship Id="rId73" Target="notesSlides/notesSlide4.xml" Type="http://schemas.openxmlformats.org/officeDocument/2006/relationships/notesSlide"/><Relationship Id="rId74" Target="notesSlides/notesSlide5.xml" Type="http://schemas.openxmlformats.org/officeDocument/2006/relationships/notesSlide"/><Relationship Id="rId75" Target="notesSlides/notesSlide6.xml" Type="http://schemas.openxmlformats.org/officeDocument/2006/relationships/notesSlide"/><Relationship Id="rId76" Target="notesSlides/notesSlide7.xml" Type="http://schemas.openxmlformats.org/officeDocument/2006/relationships/notesSlide"/><Relationship Id="rId77" Target="notesSlides/notesSlide8.xml" Type="http://schemas.openxmlformats.org/officeDocument/2006/relationships/notesSlide"/><Relationship Id="rId78" Target="notesSlides/notesSlide9.xml" Type="http://schemas.openxmlformats.org/officeDocument/2006/relationships/notesSlide"/><Relationship Id="rId79" Target="notesSlides/notesSlide10.xml" Type="http://schemas.openxmlformats.org/officeDocument/2006/relationships/notesSlide"/><Relationship Id="rId8" Target="slides/slide3.xml" Type="http://schemas.openxmlformats.org/officeDocument/2006/relationships/slide"/><Relationship Id="rId80" Target="notesSlides/notesSlide11.xml" Type="http://schemas.openxmlformats.org/officeDocument/2006/relationships/notesSlide"/><Relationship Id="rId81" Target="notesSlides/notesSlide12.xml" Type="http://schemas.openxmlformats.org/officeDocument/2006/relationships/notesSlide"/><Relationship Id="rId82" Target="notesSlides/notesSlide13.xml" Type="http://schemas.openxmlformats.org/officeDocument/2006/relationships/notesSlide"/><Relationship Id="rId83" Target="notesSlides/notesSlide14.xml" Type="http://schemas.openxmlformats.org/officeDocument/2006/relationships/notesSlide"/><Relationship Id="rId84" Target="notesSlides/notesSlide15.xml" Type="http://schemas.openxmlformats.org/officeDocument/2006/relationships/notesSlide"/><Relationship Id="rId85" Target="notesSlides/notesSlide16.xml" Type="http://schemas.openxmlformats.org/officeDocument/2006/relationships/notesSlide"/><Relationship Id="rId86" Target="notesSlides/notesSlide17.xml" Type="http://schemas.openxmlformats.org/officeDocument/2006/relationships/notesSlide"/><Relationship Id="rId87" Target="notesSlides/notesSlide18.xml" Type="http://schemas.openxmlformats.org/officeDocument/2006/relationships/notesSlide"/><Relationship Id="rId88" Target="notesSlides/notesSlide19.xml" Type="http://schemas.openxmlformats.org/officeDocument/2006/relationships/notesSlide"/><Relationship Id="rId89" Target="notesSlides/notesSlide20.xml" Type="http://schemas.openxmlformats.org/officeDocument/2006/relationships/notesSlide"/><Relationship Id="rId9" Target="slides/slide4.xml" Type="http://schemas.openxmlformats.org/officeDocument/2006/relationships/slide"/><Relationship Id="rId90" Target="notesSlides/notesSlide21.xml" Type="http://schemas.openxmlformats.org/officeDocument/2006/relationships/notesSlide"/><Relationship Id="rId91" Target="notesSlides/notesSlide22.xml" Type="http://schemas.openxmlformats.org/officeDocument/2006/relationships/notesSlide"/><Relationship Id="rId92" Target="notesSlides/notesSlide23.xml" Type="http://schemas.openxmlformats.org/officeDocument/2006/relationships/notesSlide"/><Relationship Id="rId93" Target="notesSlides/notesSlide24.xml" Type="http://schemas.openxmlformats.org/officeDocument/2006/relationships/notesSlide"/><Relationship Id="rId94" Target="notesSlides/notesSlide25.xml" Type="http://schemas.openxmlformats.org/officeDocument/2006/relationships/notesSlide"/><Relationship Id="rId95" Target="notesSlides/notesSlide26.xml" Type="http://schemas.openxmlformats.org/officeDocument/2006/relationships/notesSlide"/><Relationship Id="rId96" Target="notesSlides/notesSlide27.xml" Type="http://schemas.openxmlformats.org/officeDocument/2006/relationships/notesSlide"/><Relationship Id="rId97" Target="notesSlides/notesSlide28.xml" Type="http://schemas.openxmlformats.org/officeDocument/2006/relationships/notesSlide"/><Relationship Id="rId98" Target="notesSlides/notesSlide29.xml" Type="http://schemas.openxmlformats.org/officeDocument/2006/relationships/notesSlide"/><Relationship Id="rId99" Target="notesSlides/notesSlide30.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5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5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5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5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_rels/notesSlide6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2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2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2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2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2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2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2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2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30.png" Type="http://schemas.openxmlformats.org/officeDocument/2006/relationships/image"/><Relationship Id="rId4" Target="../media/image31.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3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3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34.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3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3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37.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38.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39.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 Id="rId3" Target="../media/image40.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 Id="rId3" Target="../media/image41.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 Id="rId3" Target="../media/image42.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 Id="rId3" Target="../media/image43.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6.xml" Type="http://schemas.openxmlformats.org/officeDocument/2006/relationships/notesSlide"/><Relationship Id="rId3" Target="../media/image44.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7.xml" Type="http://schemas.openxmlformats.org/officeDocument/2006/relationships/notesSlide"/><Relationship Id="rId3" Target="../media/image45.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8.xml" Type="http://schemas.openxmlformats.org/officeDocument/2006/relationships/notesSlide"/><Relationship Id="rId3" Target="../media/image46.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9.xml" Type="http://schemas.openxmlformats.org/officeDocument/2006/relationships/notesSlide"/><Relationship Id="rId3" Target="../media/image47.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0.xml" Type="http://schemas.openxmlformats.org/officeDocument/2006/relationships/notesSlide"/><Relationship Id="rId3" Target="../media/image48.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1.xml" Type="http://schemas.openxmlformats.org/officeDocument/2006/relationships/notesSlide"/><Relationship Id="rId3" Target="../media/image49.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2.xml" Type="http://schemas.openxmlformats.org/officeDocument/2006/relationships/notesSlide"/><Relationship Id="rId3" Target="../media/image50.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3.xml" Type="http://schemas.openxmlformats.org/officeDocument/2006/relationships/notesSlide"/><Relationship Id="rId3" Target="../media/image51.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4.xml" Type="http://schemas.openxmlformats.org/officeDocument/2006/relationships/notesSlide"/><Relationship Id="rId3" Target="../media/image52.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5.xml" Type="http://schemas.openxmlformats.org/officeDocument/2006/relationships/notesSlide"/><Relationship Id="rId3" Target="../media/image53.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6.xml" Type="http://schemas.openxmlformats.org/officeDocument/2006/relationships/notesSlide"/><Relationship Id="rId3" Target="../media/image54.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7.xml" Type="http://schemas.openxmlformats.org/officeDocument/2006/relationships/notesSlide"/><Relationship Id="rId3" Target="../media/image55.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8.xml" Type="http://schemas.openxmlformats.org/officeDocument/2006/relationships/notesSlid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9.xml" Type="http://schemas.openxmlformats.org/officeDocument/2006/relationships/notesSlid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1238534"/>
            <a:ext cx="18288000" cy="7802597"/>
            <a:chOff x="0" y="0"/>
            <a:chExt cx="24384000" cy="10403462"/>
          </a:xfrm>
        </p:grpSpPr>
        <p:sp>
          <p:nvSpPr>
            <p:cNvPr name="Freeform 21" id="21"/>
            <p:cNvSpPr/>
            <p:nvPr/>
          </p:nvSpPr>
          <p:spPr>
            <a:xfrm flipH="false" flipV="false" rot="0">
              <a:off x="0" y="0"/>
              <a:ext cx="24384000" cy="10403459"/>
            </a:xfrm>
            <a:custGeom>
              <a:avLst/>
              <a:gdLst/>
              <a:ahLst/>
              <a:cxnLst/>
              <a:rect r="r" b="b" t="t" l="l"/>
              <a:pathLst>
                <a:path h="10403459" w="24384000">
                  <a:moveTo>
                    <a:pt x="0" y="0"/>
                  </a:moveTo>
                  <a:lnTo>
                    <a:pt x="24384000" y="0"/>
                  </a:lnTo>
                  <a:lnTo>
                    <a:pt x="24384000" y="10403459"/>
                  </a:lnTo>
                  <a:lnTo>
                    <a:pt x="0" y="10403459"/>
                  </a:lnTo>
                  <a:close/>
                </a:path>
              </a:pathLst>
            </a:custGeom>
            <a:solidFill>
              <a:srgbClr val="2C3C43"/>
            </a:solidFill>
          </p:spPr>
        </p:sp>
      </p:grpSp>
      <p:grpSp>
        <p:nvGrpSpPr>
          <p:cNvPr name="Group 22" id="22"/>
          <p:cNvGrpSpPr/>
          <p:nvPr/>
        </p:nvGrpSpPr>
        <p:grpSpPr>
          <a:xfrm rot="0">
            <a:off x="-19050" y="1334544"/>
            <a:ext cx="1606162" cy="7616576"/>
            <a:chOff x="0" y="0"/>
            <a:chExt cx="2141550" cy="10155434"/>
          </a:xfrm>
        </p:grpSpPr>
        <p:sp>
          <p:nvSpPr>
            <p:cNvPr name="Freeform 23" id="23"/>
            <p:cNvSpPr/>
            <p:nvPr/>
          </p:nvSpPr>
          <p:spPr>
            <a:xfrm flipH="false" flipV="false" rot="0">
              <a:off x="0" y="0"/>
              <a:ext cx="2141601" cy="10155428"/>
            </a:xfrm>
            <a:custGeom>
              <a:avLst/>
              <a:gdLst/>
              <a:ahLst/>
              <a:cxnLst/>
              <a:rect r="r" b="b" t="t" l="l"/>
              <a:pathLst>
                <a:path h="10155428" w="2141601">
                  <a:moveTo>
                    <a:pt x="0" y="0"/>
                  </a:moveTo>
                  <a:lnTo>
                    <a:pt x="2141601" y="0"/>
                  </a:lnTo>
                  <a:lnTo>
                    <a:pt x="2141601" y="10155428"/>
                  </a:lnTo>
                  <a:lnTo>
                    <a:pt x="0" y="10155428"/>
                  </a:lnTo>
                  <a:close/>
                </a:path>
              </a:pathLst>
            </a:custGeom>
            <a:solidFill>
              <a:srgbClr val="90C226"/>
            </a:solidFill>
          </p:spPr>
        </p:sp>
      </p:grpSp>
      <p:grpSp>
        <p:nvGrpSpPr>
          <p:cNvPr name="Group 24" id="24"/>
          <p:cNvGrpSpPr/>
          <p:nvPr/>
        </p:nvGrpSpPr>
        <p:grpSpPr>
          <a:xfrm rot="5400000">
            <a:off x="-3547688" y="5095495"/>
            <a:ext cx="10287003" cy="96012"/>
            <a:chOff x="0" y="0"/>
            <a:chExt cx="13716004" cy="128016"/>
          </a:xfrm>
        </p:grpSpPr>
        <p:sp>
          <p:nvSpPr>
            <p:cNvPr name="Freeform 25" id="25"/>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26" id="26"/>
          <p:cNvGrpSpPr/>
          <p:nvPr/>
        </p:nvGrpSpPr>
        <p:grpSpPr>
          <a:xfrm rot="5400000">
            <a:off x="11487766" y="5095496"/>
            <a:ext cx="10287003" cy="96012"/>
            <a:chOff x="0" y="0"/>
            <a:chExt cx="13716004" cy="128016"/>
          </a:xfrm>
        </p:grpSpPr>
        <p:sp>
          <p:nvSpPr>
            <p:cNvPr name="Freeform 27" id="27"/>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28" id="28"/>
          <p:cNvGrpSpPr/>
          <p:nvPr/>
        </p:nvGrpSpPr>
        <p:grpSpPr>
          <a:xfrm rot="0">
            <a:off x="16679274" y="1344069"/>
            <a:ext cx="1606162" cy="7616576"/>
            <a:chOff x="0" y="0"/>
            <a:chExt cx="2141550" cy="10155434"/>
          </a:xfrm>
        </p:grpSpPr>
        <p:sp>
          <p:nvSpPr>
            <p:cNvPr name="Freeform 29" id="29"/>
            <p:cNvSpPr/>
            <p:nvPr/>
          </p:nvSpPr>
          <p:spPr>
            <a:xfrm flipH="false" flipV="false" rot="0">
              <a:off x="0" y="0"/>
              <a:ext cx="2141601" cy="10155428"/>
            </a:xfrm>
            <a:custGeom>
              <a:avLst/>
              <a:gdLst/>
              <a:ahLst/>
              <a:cxnLst/>
              <a:rect r="r" b="b" t="t" l="l"/>
              <a:pathLst>
                <a:path h="10155428" w="2141601">
                  <a:moveTo>
                    <a:pt x="0" y="0"/>
                  </a:moveTo>
                  <a:lnTo>
                    <a:pt x="2141601" y="0"/>
                  </a:lnTo>
                  <a:lnTo>
                    <a:pt x="2141601" y="10155428"/>
                  </a:lnTo>
                  <a:lnTo>
                    <a:pt x="0" y="10155428"/>
                  </a:lnTo>
                  <a:close/>
                </a:path>
              </a:pathLst>
            </a:custGeom>
            <a:solidFill>
              <a:srgbClr val="EBEBEB"/>
            </a:solidFill>
          </p:spPr>
        </p:sp>
      </p:grpSp>
      <p:grpSp>
        <p:nvGrpSpPr>
          <p:cNvPr name="Group 30" id="30"/>
          <p:cNvGrpSpPr/>
          <p:nvPr/>
        </p:nvGrpSpPr>
        <p:grpSpPr>
          <a:xfrm rot="0">
            <a:off x="16679274" y="0"/>
            <a:ext cx="1606162" cy="1238530"/>
            <a:chOff x="0" y="0"/>
            <a:chExt cx="2141550" cy="1651374"/>
          </a:xfrm>
        </p:grpSpPr>
        <p:sp>
          <p:nvSpPr>
            <p:cNvPr name="Freeform 31" id="31"/>
            <p:cNvSpPr/>
            <p:nvPr/>
          </p:nvSpPr>
          <p:spPr>
            <a:xfrm flipH="false" flipV="false" rot="0">
              <a:off x="0" y="0"/>
              <a:ext cx="2141601" cy="1651381"/>
            </a:xfrm>
            <a:custGeom>
              <a:avLst/>
              <a:gdLst/>
              <a:ahLst/>
              <a:cxnLst/>
              <a:rect r="r" b="b" t="t" l="l"/>
              <a:pathLst>
                <a:path h="1651381" w="2141601">
                  <a:moveTo>
                    <a:pt x="0" y="0"/>
                  </a:moveTo>
                  <a:lnTo>
                    <a:pt x="2141601" y="0"/>
                  </a:lnTo>
                  <a:lnTo>
                    <a:pt x="2141601" y="1651381"/>
                  </a:lnTo>
                  <a:lnTo>
                    <a:pt x="0" y="1651381"/>
                  </a:lnTo>
                  <a:close/>
                </a:path>
              </a:pathLst>
            </a:custGeom>
            <a:solidFill>
              <a:srgbClr val="90C226"/>
            </a:solidFill>
          </p:spPr>
        </p:sp>
      </p:grpSp>
      <p:grpSp>
        <p:nvGrpSpPr>
          <p:cNvPr name="Group 32" id="32"/>
          <p:cNvGrpSpPr/>
          <p:nvPr/>
        </p:nvGrpSpPr>
        <p:grpSpPr>
          <a:xfrm rot="0">
            <a:off x="16679272" y="9041132"/>
            <a:ext cx="1606162" cy="1245870"/>
            <a:chOff x="0" y="0"/>
            <a:chExt cx="2141550" cy="1661160"/>
          </a:xfrm>
        </p:grpSpPr>
        <p:sp>
          <p:nvSpPr>
            <p:cNvPr name="Freeform 33" id="33"/>
            <p:cNvSpPr/>
            <p:nvPr/>
          </p:nvSpPr>
          <p:spPr>
            <a:xfrm flipH="false" flipV="false" rot="0">
              <a:off x="0" y="0"/>
              <a:ext cx="2141601" cy="1661160"/>
            </a:xfrm>
            <a:custGeom>
              <a:avLst/>
              <a:gdLst/>
              <a:ahLst/>
              <a:cxnLst/>
              <a:rect r="r" b="b" t="t" l="l"/>
              <a:pathLst>
                <a:path h="1661160" w="2141601">
                  <a:moveTo>
                    <a:pt x="0" y="0"/>
                  </a:moveTo>
                  <a:lnTo>
                    <a:pt x="2141601" y="0"/>
                  </a:lnTo>
                  <a:lnTo>
                    <a:pt x="2141601" y="1661160"/>
                  </a:lnTo>
                  <a:lnTo>
                    <a:pt x="0" y="1661160"/>
                  </a:lnTo>
                  <a:close/>
                </a:path>
              </a:pathLst>
            </a:custGeom>
            <a:solidFill>
              <a:srgbClr val="90C226"/>
            </a:solidFill>
          </p:spPr>
        </p:sp>
      </p:grpSp>
      <p:sp>
        <p:nvSpPr>
          <p:cNvPr name="TextBox 34" id="34"/>
          <p:cNvSpPr txBox="true"/>
          <p:nvPr/>
        </p:nvSpPr>
        <p:spPr>
          <a:xfrm rot="0">
            <a:off x="1852127" y="4683068"/>
            <a:ext cx="14246202" cy="1838325"/>
          </a:xfrm>
          <a:prstGeom prst="rect">
            <a:avLst/>
          </a:prstGeom>
        </p:spPr>
        <p:txBody>
          <a:bodyPr anchor="t" rtlCol="false" tIns="0" lIns="0" bIns="0" rIns="0">
            <a:spAutoFit/>
          </a:bodyPr>
          <a:lstStyle/>
          <a:p>
            <a:pPr algn="ctr">
              <a:lnSpc>
                <a:spcPts val="7200"/>
              </a:lnSpc>
            </a:pPr>
            <a:r>
              <a:rPr lang="en-US" sz="6000">
                <a:solidFill>
                  <a:srgbClr val="FFFFFF"/>
                </a:solidFill>
                <a:latin typeface="Trebuchet MS"/>
                <a:ea typeface="Trebuchet MS"/>
                <a:cs typeface="Trebuchet MS"/>
                <a:sym typeface="Trebuchet MS"/>
              </a:rPr>
              <a:t>EUREKABANK</a:t>
            </a:r>
          </a:p>
          <a:p>
            <a:pPr algn="ctr">
              <a:lnSpc>
                <a:spcPts val="7200"/>
              </a:lnSpc>
            </a:pPr>
            <a:r>
              <a:rPr lang="en-US" sz="6000">
                <a:solidFill>
                  <a:srgbClr val="FFFFFF"/>
                </a:solidFill>
                <a:latin typeface="Trebuchet MS"/>
                <a:ea typeface="Trebuchet MS"/>
                <a:cs typeface="Trebuchet MS"/>
                <a:sym typeface="Trebuchet MS"/>
              </a:rPr>
              <a:t>SOAP JAVA</a:t>
            </a:r>
          </a:p>
        </p:txBody>
      </p:sp>
      <p:sp>
        <p:nvSpPr>
          <p:cNvPr name="Freeform 35" id="35" descr="Resultado de imagen para espe"/>
          <p:cNvSpPr/>
          <p:nvPr/>
        </p:nvSpPr>
        <p:spPr>
          <a:xfrm flipH="false" flipV="false" rot="0">
            <a:off x="1742397" y="1722664"/>
            <a:ext cx="14465660" cy="2800350"/>
          </a:xfrm>
          <a:custGeom>
            <a:avLst/>
            <a:gdLst/>
            <a:ahLst/>
            <a:cxnLst/>
            <a:rect r="r" b="b" t="t" l="l"/>
            <a:pathLst>
              <a:path h="2800350" w="14465660">
                <a:moveTo>
                  <a:pt x="0" y="0"/>
                </a:moveTo>
                <a:lnTo>
                  <a:pt x="14465660" y="0"/>
                </a:lnTo>
                <a:lnTo>
                  <a:pt x="14465660" y="2800350"/>
                </a:lnTo>
                <a:lnTo>
                  <a:pt x="0" y="2800350"/>
                </a:lnTo>
                <a:lnTo>
                  <a:pt x="0" y="0"/>
                </a:lnTo>
                <a:close/>
              </a:path>
            </a:pathLst>
          </a:custGeom>
          <a:blipFill>
            <a:blip r:embed="rId3"/>
            <a:stretch>
              <a:fillRect l="0" t="0" r="-2620" b="0"/>
            </a:stretch>
          </a:blipFill>
        </p:spPr>
      </p:sp>
      <p:sp>
        <p:nvSpPr>
          <p:cNvPr name="TextBox 36" id="36"/>
          <p:cNvSpPr txBox="true"/>
          <p:nvPr/>
        </p:nvSpPr>
        <p:spPr>
          <a:xfrm rot="0">
            <a:off x="2552973" y="6857455"/>
            <a:ext cx="2780757" cy="518250"/>
          </a:xfrm>
          <a:prstGeom prst="rect">
            <a:avLst/>
          </a:prstGeom>
        </p:spPr>
        <p:txBody>
          <a:bodyPr anchor="t" rtlCol="false" tIns="0" lIns="0" bIns="0" rIns="0">
            <a:spAutoFit/>
          </a:bodyPr>
          <a:lstStyle/>
          <a:p>
            <a:pPr algn="l">
              <a:lnSpc>
                <a:spcPts val="3600"/>
              </a:lnSpc>
            </a:pPr>
            <a:r>
              <a:rPr lang="en-US" sz="3000" b="true">
                <a:solidFill>
                  <a:srgbClr val="FFFFFF"/>
                </a:solidFill>
                <a:latin typeface="Trebuchet MS Bold"/>
                <a:ea typeface="Trebuchet MS Bold"/>
                <a:cs typeface="Trebuchet MS Bold"/>
                <a:sym typeface="Trebuchet MS Bold"/>
              </a:rPr>
              <a:t>INTEGRANTES: </a:t>
            </a:r>
          </a:p>
        </p:txBody>
      </p:sp>
      <p:sp>
        <p:nvSpPr>
          <p:cNvPr name="TextBox 37" id="37"/>
          <p:cNvSpPr txBox="true"/>
          <p:nvPr/>
        </p:nvSpPr>
        <p:spPr>
          <a:xfrm rot="0">
            <a:off x="5222696" y="6857455"/>
            <a:ext cx="3956410" cy="1441579"/>
          </a:xfrm>
          <a:prstGeom prst="rect">
            <a:avLst/>
          </a:prstGeom>
        </p:spPr>
        <p:txBody>
          <a:bodyPr anchor="t" rtlCol="false" tIns="0" lIns="0" bIns="0" rIns="0">
            <a:spAutoFit/>
          </a:bodyPr>
          <a:lstStyle/>
          <a:p>
            <a:pPr algn="l">
              <a:lnSpc>
                <a:spcPts val="3600"/>
              </a:lnSpc>
            </a:pPr>
            <a:r>
              <a:rPr lang="en-US" sz="3000">
                <a:solidFill>
                  <a:srgbClr val="FFFFFF"/>
                </a:solidFill>
                <a:latin typeface="Trebuchet MS"/>
                <a:ea typeface="Trebuchet MS"/>
                <a:cs typeface="Trebuchet MS"/>
                <a:sym typeface="Trebuchet MS"/>
              </a:rPr>
              <a:t>GUEVARA MATHIAS</a:t>
            </a:r>
          </a:p>
          <a:p>
            <a:pPr algn="l">
              <a:lnSpc>
                <a:spcPts val="3600"/>
              </a:lnSpc>
            </a:pPr>
            <a:r>
              <a:rPr lang="en-US" sz="3000">
                <a:solidFill>
                  <a:srgbClr val="FFFFFF"/>
                </a:solidFill>
                <a:latin typeface="Trebuchet MS"/>
                <a:ea typeface="Trebuchet MS"/>
                <a:cs typeface="Trebuchet MS"/>
                <a:sym typeface="Trebuchet MS"/>
              </a:rPr>
              <a:t>IZA CHRISTOPHER</a:t>
            </a:r>
          </a:p>
          <a:p>
            <a:pPr algn="l">
              <a:lnSpc>
                <a:spcPts val="3600"/>
              </a:lnSpc>
            </a:pPr>
            <a:r>
              <a:rPr lang="en-US" sz="3000">
                <a:solidFill>
                  <a:srgbClr val="FFFFFF"/>
                </a:solidFill>
                <a:latin typeface="Trebuchet MS"/>
                <a:ea typeface="Trebuchet MS"/>
                <a:cs typeface="Trebuchet MS"/>
                <a:sym typeface="Trebuchet MS"/>
              </a:rPr>
              <a:t>TINOCO SHARED</a:t>
            </a:r>
          </a:p>
        </p:txBody>
      </p:sp>
      <p:sp>
        <p:nvSpPr>
          <p:cNvPr name="TextBox 38" id="38"/>
          <p:cNvSpPr txBox="true"/>
          <p:nvPr/>
        </p:nvSpPr>
        <p:spPr>
          <a:xfrm rot="0">
            <a:off x="9758109" y="6857435"/>
            <a:ext cx="6209447" cy="1238250"/>
          </a:xfrm>
          <a:prstGeom prst="rect">
            <a:avLst/>
          </a:prstGeom>
        </p:spPr>
        <p:txBody>
          <a:bodyPr anchor="t" rtlCol="false" tIns="0" lIns="0" bIns="0" rIns="0">
            <a:spAutoFit/>
          </a:bodyPr>
          <a:lstStyle/>
          <a:p>
            <a:pPr algn="l">
              <a:lnSpc>
                <a:spcPts val="3240"/>
              </a:lnSpc>
            </a:pPr>
            <a:r>
              <a:rPr lang="en-US" sz="2700">
                <a:solidFill>
                  <a:srgbClr val="FFFFFF"/>
                </a:solidFill>
                <a:latin typeface="Trebuchet MS"/>
                <a:ea typeface="Trebuchet MS"/>
                <a:cs typeface="Trebuchet MS"/>
                <a:sym typeface="Trebuchet MS"/>
              </a:rPr>
              <a:t>NRC: 2648</a:t>
            </a:r>
          </a:p>
          <a:p>
            <a:pPr algn="l">
              <a:lnSpc>
                <a:spcPts val="3240"/>
              </a:lnSpc>
            </a:pPr>
            <a:r>
              <a:rPr lang="en-US" sz="2700">
                <a:solidFill>
                  <a:srgbClr val="FFFFFF"/>
                </a:solidFill>
                <a:latin typeface="Trebuchet MS"/>
                <a:ea typeface="Trebuchet MS"/>
                <a:cs typeface="Trebuchet MS"/>
                <a:sym typeface="Trebuchet MS"/>
              </a:rPr>
              <a:t>FECHA:  09/12/2024</a:t>
            </a:r>
          </a:p>
          <a:p>
            <a:pPr algn="l">
              <a:lnSpc>
                <a:spcPts val="3240"/>
              </a:lnSpc>
            </a:pPr>
            <a:r>
              <a:rPr lang="en-US" sz="2700">
                <a:solidFill>
                  <a:srgbClr val="FFFFFF"/>
                </a:solidFill>
                <a:latin typeface="Trebuchet MS"/>
                <a:ea typeface="Trebuchet MS"/>
                <a:cs typeface="Trebuchet MS"/>
                <a:sym typeface="Trebuchet MS"/>
              </a:rPr>
              <a:t>ING: CAMPAÑA MAURICIO</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1226372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2C3C43"/>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13701"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19050"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2C3C43"/>
            </a:solidFill>
          </p:spPr>
        </p:sp>
      </p:grpSp>
      <p:grpSp>
        <p:nvGrpSpPr>
          <p:cNvPr name="Group 28" id="28"/>
          <p:cNvGrpSpPr/>
          <p:nvPr/>
        </p:nvGrpSpPr>
        <p:grpSpPr>
          <a:xfrm rot="0">
            <a:off x="12309798"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12213784" y="0"/>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12305223" y="1643260"/>
            <a:ext cx="5996480" cy="7525339"/>
            <a:chOff x="0" y="0"/>
            <a:chExt cx="7995306" cy="10033786"/>
          </a:xfrm>
        </p:grpSpPr>
        <p:sp>
          <p:nvSpPr>
            <p:cNvPr name="Freeform 35" id="35"/>
            <p:cNvSpPr/>
            <p:nvPr/>
          </p:nvSpPr>
          <p:spPr>
            <a:xfrm flipH="false" flipV="false" rot="0">
              <a:off x="0" y="0"/>
              <a:ext cx="7995285" cy="10033762"/>
            </a:xfrm>
            <a:custGeom>
              <a:avLst/>
              <a:gdLst/>
              <a:ahLst/>
              <a:cxnLst/>
              <a:rect r="r" b="b" t="t" l="l"/>
              <a:pathLst>
                <a:path h="10033762" w="7995285">
                  <a:moveTo>
                    <a:pt x="0" y="0"/>
                  </a:moveTo>
                  <a:lnTo>
                    <a:pt x="7995285" y="0"/>
                  </a:lnTo>
                  <a:lnTo>
                    <a:pt x="7995285" y="10033762"/>
                  </a:lnTo>
                  <a:lnTo>
                    <a:pt x="0" y="10033762"/>
                  </a:lnTo>
                  <a:close/>
                </a:path>
              </a:pathLst>
            </a:custGeom>
            <a:solidFill>
              <a:srgbClr val="90C226"/>
            </a:solidFill>
          </p:spPr>
        </p:sp>
      </p:grpSp>
      <p:sp>
        <p:nvSpPr>
          <p:cNvPr name="TextBox 36" id="36"/>
          <p:cNvSpPr txBox="true"/>
          <p:nvPr/>
        </p:nvSpPr>
        <p:spPr>
          <a:xfrm rot="0">
            <a:off x="1271876" y="2154827"/>
            <a:ext cx="9751680" cy="860760"/>
          </a:xfrm>
          <a:prstGeom prst="rect">
            <a:avLst/>
          </a:prstGeom>
        </p:spPr>
        <p:txBody>
          <a:bodyPr anchor="t" rtlCol="false" tIns="0" lIns="0" bIns="0" rIns="0">
            <a:spAutoFit/>
          </a:bodyPr>
          <a:lstStyle/>
          <a:p>
            <a:pPr algn="l">
              <a:lnSpc>
                <a:spcPts val="5759"/>
              </a:lnSpc>
            </a:pPr>
            <a:r>
              <a:rPr lang="en-US" sz="4800">
                <a:solidFill>
                  <a:srgbClr val="90C226"/>
                </a:solidFill>
                <a:latin typeface="Trebuchet MS"/>
                <a:ea typeface="Trebuchet MS"/>
                <a:cs typeface="Trebuchet MS"/>
                <a:sym typeface="Trebuchet MS"/>
              </a:rPr>
              <a:t>Agenda</a:t>
            </a:r>
          </a:p>
        </p:txBody>
      </p:sp>
      <p:grpSp>
        <p:nvGrpSpPr>
          <p:cNvPr name="Group 37" id="37"/>
          <p:cNvGrpSpPr/>
          <p:nvPr/>
        </p:nvGrpSpPr>
        <p:grpSpPr>
          <a:xfrm rot="0">
            <a:off x="907486" y="3357160"/>
            <a:ext cx="5186030" cy="4478740"/>
            <a:chOff x="0" y="0"/>
            <a:chExt cx="6914706" cy="5971654"/>
          </a:xfrm>
        </p:grpSpPr>
        <p:grpSp>
          <p:nvGrpSpPr>
            <p:cNvPr name="Group 38" id="38"/>
            <p:cNvGrpSpPr/>
            <p:nvPr/>
          </p:nvGrpSpPr>
          <p:grpSpPr>
            <a:xfrm rot="0">
              <a:off x="0" y="58906"/>
              <a:ext cx="484168" cy="484168"/>
              <a:chOff x="0" y="0"/>
              <a:chExt cx="403860" cy="403860"/>
            </a:xfrm>
          </p:grpSpPr>
          <p:sp>
            <p:nvSpPr>
              <p:cNvPr name="Freeform 39" id="3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90C226"/>
              </a:solidFill>
            </p:spPr>
          </p:sp>
          <p:sp>
            <p:nvSpPr>
              <p:cNvPr name="Freeform 40" id="4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1" id="41"/>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42" id="42"/>
            <p:cNvGrpSpPr/>
            <p:nvPr/>
          </p:nvGrpSpPr>
          <p:grpSpPr>
            <a:xfrm rot="0">
              <a:off x="0" y="826100"/>
              <a:ext cx="484168" cy="484168"/>
              <a:chOff x="0" y="0"/>
              <a:chExt cx="403860" cy="403860"/>
            </a:xfrm>
          </p:grpSpPr>
          <p:sp>
            <p:nvSpPr>
              <p:cNvPr name="Freeform 43" id="4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90C226"/>
              </a:solidFill>
            </p:spPr>
          </p:sp>
          <p:sp>
            <p:nvSpPr>
              <p:cNvPr name="Freeform 44" id="4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5" id="45"/>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6" id="46"/>
            <p:cNvGrpSpPr/>
            <p:nvPr/>
          </p:nvGrpSpPr>
          <p:grpSpPr>
            <a:xfrm rot="0">
              <a:off x="0" y="1593180"/>
              <a:ext cx="484168" cy="484168"/>
              <a:chOff x="0" y="0"/>
              <a:chExt cx="403860" cy="403860"/>
            </a:xfrm>
          </p:grpSpPr>
          <p:sp>
            <p:nvSpPr>
              <p:cNvPr name="Freeform 47" id="4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90C226"/>
              </a:solidFill>
            </p:spPr>
          </p:sp>
          <p:sp>
            <p:nvSpPr>
              <p:cNvPr name="Freeform 48" id="4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9" id="49"/>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50" id="50"/>
            <p:cNvGrpSpPr/>
            <p:nvPr/>
          </p:nvGrpSpPr>
          <p:grpSpPr>
            <a:xfrm rot="0">
              <a:off x="0" y="2360260"/>
              <a:ext cx="484168" cy="484168"/>
              <a:chOff x="0" y="0"/>
              <a:chExt cx="403860" cy="403860"/>
            </a:xfrm>
          </p:grpSpPr>
          <p:sp>
            <p:nvSpPr>
              <p:cNvPr name="Freeform 51" id="5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90C226"/>
              </a:solidFill>
            </p:spPr>
          </p:sp>
          <p:sp>
            <p:nvSpPr>
              <p:cNvPr name="Freeform 52" id="5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3" id="53"/>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4" id="54"/>
            <p:cNvGrpSpPr/>
            <p:nvPr/>
          </p:nvGrpSpPr>
          <p:grpSpPr>
            <a:xfrm rot="0">
              <a:off x="0" y="3127340"/>
              <a:ext cx="484168" cy="484168"/>
              <a:chOff x="0" y="0"/>
              <a:chExt cx="403860" cy="403860"/>
            </a:xfrm>
          </p:grpSpPr>
          <p:sp>
            <p:nvSpPr>
              <p:cNvPr name="Freeform 55" id="5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90C226"/>
              </a:solidFill>
            </p:spPr>
          </p:sp>
          <p:sp>
            <p:nvSpPr>
              <p:cNvPr name="Freeform 56" id="5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7" id="57"/>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8" id="58"/>
            <p:cNvGrpSpPr/>
            <p:nvPr/>
          </p:nvGrpSpPr>
          <p:grpSpPr>
            <a:xfrm rot="0">
              <a:off x="0" y="3894420"/>
              <a:ext cx="484168" cy="484168"/>
              <a:chOff x="0" y="0"/>
              <a:chExt cx="403860" cy="403860"/>
            </a:xfrm>
          </p:grpSpPr>
          <p:sp>
            <p:nvSpPr>
              <p:cNvPr name="Freeform 59" id="5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90C226"/>
              </a:solidFill>
            </p:spPr>
          </p:sp>
          <p:sp>
            <p:nvSpPr>
              <p:cNvPr name="Freeform 60" id="6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1" id="61"/>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62" id="62"/>
            <p:cNvGrpSpPr/>
            <p:nvPr/>
          </p:nvGrpSpPr>
          <p:grpSpPr>
            <a:xfrm rot="0">
              <a:off x="0" y="4661500"/>
              <a:ext cx="484168" cy="484168"/>
              <a:chOff x="0" y="0"/>
              <a:chExt cx="403860" cy="403860"/>
            </a:xfrm>
          </p:grpSpPr>
          <p:sp>
            <p:nvSpPr>
              <p:cNvPr name="Freeform 63" id="6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90C226"/>
              </a:solidFill>
            </p:spPr>
          </p:sp>
          <p:sp>
            <p:nvSpPr>
              <p:cNvPr name="Freeform 64" id="6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5" id="65"/>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6" id="66"/>
            <p:cNvGrpSpPr/>
            <p:nvPr/>
          </p:nvGrpSpPr>
          <p:grpSpPr>
            <a:xfrm rot="0">
              <a:off x="0" y="5428580"/>
              <a:ext cx="484168" cy="484168"/>
              <a:chOff x="0" y="0"/>
              <a:chExt cx="403860" cy="403860"/>
            </a:xfrm>
          </p:grpSpPr>
          <p:sp>
            <p:nvSpPr>
              <p:cNvPr name="Freeform 67" id="6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90C226"/>
              </a:solidFill>
            </p:spPr>
          </p:sp>
          <p:sp>
            <p:nvSpPr>
              <p:cNvPr name="Freeform 68" id="6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9" id="69"/>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TextBox 48" id="48"/>
          <p:cNvSpPr txBox="true"/>
          <p:nvPr/>
        </p:nvSpPr>
        <p:spPr>
          <a:xfrm rot="0">
            <a:off x="1405988" y="1980205"/>
            <a:ext cx="8716620"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INTRODUCCIÓN</a:t>
            </a:r>
          </a:p>
        </p:txBody>
      </p:sp>
      <p:sp>
        <p:nvSpPr>
          <p:cNvPr name="TextBox 49" id="49"/>
          <p:cNvSpPr txBox="true"/>
          <p:nvPr/>
        </p:nvSpPr>
        <p:spPr>
          <a:xfrm rot="0">
            <a:off x="1279235" y="3132074"/>
            <a:ext cx="9940473" cy="5765928"/>
          </a:xfrm>
          <a:prstGeom prst="rect">
            <a:avLst/>
          </a:prstGeom>
        </p:spPr>
        <p:txBody>
          <a:bodyPr anchor="t" rtlCol="false" tIns="0" lIns="0" bIns="0" rIns="0">
            <a:spAutoFit/>
          </a:bodyPr>
          <a:lstStyle/>
          <a:p>
            <a:pPr algn="just">
              <a:lnSpc>
                <a:spcPts val="3512"/>
              </a:lnSpc>
            </a:pPr>
            <a:r>
              <a:rPr lang="en-US" sz="2927">
                <a:solidFill>
                  <a:srgbClr val="FFFFFF"/>
                </a:solidFill>
                <a:latin typeface="Trebuchet MS"/>
                <a:ea typeface="Trebuchet MS"/>
                <a:cs typeface="Trebuchet MS"/>
                <a:sym typeface="Trebuchet MS"/>
              </a:rPr>
              <a:t>Una característica destacada de los servicios web es su independencia del lenguaje y la plataforma, lo que permite que un servicio creado en C# sea compatible con clientes desarrollados en otros entornos y viceversa. DotNet ofrece soporte para construir servicios web mediante diferentes enfoques, pero aquí se abordará específicamente el desarrollo de servicios RESTful utilizando un lenguaje de definición de servicios. Una ventaja clave es que cualquier aplicación capaz de trabajar con mensajes en formato RESTful puede consumir estos servicios, sin importar si está diseñada para .NET ni si conoce la plataforma, el modelo de objetos o el lenguaje en el que se implementaron.</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sp>
        <p:nvSpPr>
          <p:cNvPr name="TextBox 34" id="34"/>
          <p:cNvSpPr txBox="true"/>
          <p:nvPr/>
        </p:nvSpPr>
        <p:spPr>
          <a:xfrm rot="0">
            <a:off x="6851199" y="2161063"/>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OBJETIVO GENERAL</a:t>
            </a:r>
          </a:p>
        </p:txBody>
      </p:sp>
      <p:sp>
        <p:nvSpPr>
          <p:cNvPr name="TextBox 35" id="35"/>
          <p:cNvSpPr txBox="true"/>
          <p:nvPr/>
        </p:nvSpPr>
        <p:spPr>
          <a:xfrm rot="0">
            <a:off x="6878677" y="2937384"/>
            <a:ext cx="10380623" cy="1525905"/>
          </a:xfrm>
          <a:prstGeom prst="rect">
            <a:avLst/>
          </a:prstGeom>
        </p:spPr>
        <p:txBody>
          <a:bodyPr anchor="t" rtlCol="false" tIns="0" lIns="0" bIns="0" rIns="0">
            <a:spAutoFit/>
          </a:bodyPr>
          <a:lstStyle/>
          <a:p>
            <a:pPr algn="just">
              <a:lnSpc>
                <a:spcPts val="4050"/>
              </a:lnSpc>
            </a:pPr>
            <a:r>
              <a:rPr lang="en-US" sz="2700">
                <a:solidFill>
                  <a:srgbClr val="404040"/>
                </a:solidFill>
                <a:latin typeface="Trebuchet MS"/>
                <a:ea typeface="Trebuchet MS"/>
                <a:cs typeface="Trebuchet MS"/>
                <a:sym typeface="Trebuchet MS"/>
              </a:rPr>
              <a:t>Examinar y comprender los conceptos esenciales de los servicios RESTful y su aplicación en el desarrollo de aplicaciones web mediante .NET.</a:t>
            </a:r>
          </a:p>
        </p:txBody>
      </p:sp>
      <p:grpSp>
        <p:nvGrpSpPr>
          <p:cNvPr name="Group 36" id="36"/>
          <p:cNvGrpSpPr/>
          <p:nvPr/>
        </p:nvGrpSpPr>
        <p:grpSpPr>
          <a:xfrm rot="0">
            <a:off x="419126" y="3145430"/>
            <a:ext cx="5186030" cy="4478740"/>
            <a:chOff x="0" y="0"/>
            <a:chExt cx="6914706" cy="5971654"/>
          </a:xfrm>
        </p:grpSpPr>
        <p:grpSp>
          <p:nvGrpSpPr>
            <p:cNvPr name="Group 37" id="37"/>
            <p:cNvGrpSpPr/>
            <p:nvPr/>
          </p:nvGrpSpPr>
          <p:grpSpPr>
            <a:xfrm rot="0">
              <a:off x="0" y="58906"/>
              <a:ext cx="484168" cy="484168"/>
              <a:chOff x="0" y="0"/>
              <a:chExt cx="403860" cy="403860"/>
            </a:xfrm>
          </p:grpSpPr>
          <p:sp>
            <p:nvSpPr>
              <p:cNvPr name="Freeform 38" id="3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9" id="3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0" id="40"/>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41" id="41"/>
            <p:cNvGrpSpPr/>
            <p:nvPr/>
          </p:nvGrpSpPr>
          <p:grpSpPr>
            <a:xfrm rot="0">
              <a:off x="0" y="826100"/>
              <a:ext cx="484168" cy="484168"/>
              <a:chOff x="0" y="0"/>
              <a:chExt cx="403860" cy="403860"/>
            </a:xfrm>
          </p:grpSpPr>
          <p:sp>
            <p:nvSpPr>
              <p:cNvPr name="Freeform 42" id="4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43" id="4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4" id="44"/>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5" id="45"/>
            <p:cNvGrpSpPr/>
            <p:nvPr/>
          </p:nvGrpSpPr>
          <p:grpSpPr>
            <a:xfrm rot="0">
              <a:off x="0" y="1593180"/>
              <a:ext cx="484168" cy="484168"/>
              <a:chOff x="0" y="0"/>
              <a:chExt cx="403860" cy="403860"/>
            </a:xfrm>
          </p:grpSpPr>
          <p:sp>
            <p:nvSpPr>
              <p:cNvPr name="Freeform 46" id="4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7" id="4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8" id="48"/>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9" id="49"/>
            <p:cNvGrpSpPr/>
            <p:nvPr/>
          </p:nvGrpSpPr>
          <p:grpSpPr>
            <a:xfrm rot="0">
              <a:off x="0" y="2360260"/>
              <a:ext cx="484168" cy="484168"/>
              <a:chOff x="0" y="0"/>
              <a:chExt cx="403860" cy="403860"/>
            </a:xfrm>
          </p:grpSpPr>
          <p:sp>
            <p:nvSpPr>
              <p:cNvPr name="Freeform 50" id="5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1" id="5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2" id="52"/>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3" id="53"/>
            <p:cNvGrpSpPr/>
            <p:nvPr/>
          </p:nvGrpSpPr>
          <p:grpSpPr>
            <a:xfrm rot="0">
              <a:off x="0" y="3127340"/>
              <a:ext cx="484168" cy="484168"/>
              <a:chOff x="0" y="0"/>
              <a:chExt cx="403860" cy="403860"/>
            </a:xfrm>
          </p:grpSpPr>
          <p:sp>
            <p:nvSpPr>
              <p:cNvPr name="Freeform 54" id="5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5" id="5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6" id="56"/>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7" id="57"/>
            <p:cNvGrpSpPr/>
            <p:nvPr/>
          </p:nvGrpSpPr>
          <p:grpSpPr>
            <a:xfrm rot="0">
              <a:off x="0" y="3894420"/>
              <a:ext cx="484168" cy="484168"/>
              <a:chOff x="0" y="0"/>
              <a:chExt cx="403860" cy="403860"/>
            </a:xfrm>
          </p:grpSpPr>
          <p:sp>
            <p:nvSpPr>
              <p:cNvPr name="Freeform 58" id="5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9" id="5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0" id="60"/>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61" id="61"/>
            <p:cNvGrpSpPr/>
            <p:nvPr/>
          </p:nvGrpSpPr>
          <p:grpSpPr>
            <a:xfrm rot="0">
              <a:off x="0" y="4661500"/>
              <a:ext cx="484168" cy="484168"/>
              <a:chOff x="0" y="0"/>
              <a:chExt cx="403860" cy="403860"/>
            </a:xfrm>
          </p:grpSpPr>
          <p:sp>
            <p:nvSpPr>
              <p:cNvPr name="Freeform 62" id="6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3" id="6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4" id="64"/>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5" id="65"/>
            <p:cNvGrpSpPr/>
            <p:nvPr/>
          </p:nvGrpSpPr>
          <p:grpSpPr>
            <a:xfrm rot="0">
              <a:off x="0" y="5428580"/>
              <a:ext cx="484168" cy="484168"/>
              <a:chOff x="0" y="0"/>
              <a:chExt cx="403860" cy="403860"/>
            </a:xfrm>
          </p:grpSpPr>
          <p:sp>
            <p:nvSpPr>
              <p:cNvPr name="Freeform 66" id="6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7" id="6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8" id="68"/>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TextBox 69" id="69"/>
          <p:cNvSpPr txBox="true"/>
          <p:nvPr/>
        </p:nvSpPr>
        <p:spPr>
          <a:xfrm rot="0">
            <a:off x="6851199" y="4891088"/>
            <a:ext cx="10380975" cy="628650"/>
          </a:xfrm>
          <a:prstGeom prst="rect">
            <a:avLst/>
          </a:prstGeom>
        </p:spPr>
        <p:txBody>
          <a:bodyPr anchor="t" rtlCol="false" tIns="0" lIns="0" bIns="0" rIns="0">
            <a:spAutoFit/>
          </a:bodyPr>
          <a:lstStyle/>
          <a:p>
            <a:pPr algn="l">
              <a:lnSpc>
                <a:spcPts val="4800"/>
              </a:lnSpc>
            </a:pPr>
            <a:r>
              <a:rPr lang="en-US" sz="4000" b="true">
                <a:solidFill>
                  <a:srgbClr val="90C226"/>
                </a:solidFill>
                <a:latin typeface="Trebuchet MS Bold"/>
                <a:ea typeface="Trebuchet MS Bold"/>
                <a:cs typeface="Trebuchet MS Bold"/>
                <a:sym typeface="Trebuchet MS Bold"/>
              </a:rPr>
              <a:t>OBJETIVOS ESPECÍFICOS</a:t>
            </a:r>
          </a:p>
        </p:txBody>
      </p:sp>
      <p:sp>
        <p:nvSpPr>
          <p:cNvPr name="TextBox 70" id="70"/>
          <p:cNvSpPr txBox="true"/>
          <p:nvPr/>
        </p:nvSpPr>
        <p:spPr>
          <a:xfrm rot="0">
            <a:off x="6851199" y="5749164"/>
            <a:ext cx="10408101" cy="2414258"/>
          </a:xfrm>
          <a:prstGeom prst="rect">
            <a:avLst/>
          </a:prstGeom>
        </p:spPr>
        <p:txBody>
          <a:bodyPr anchor="t" rtlCol="false" tIns="0" lIns="0" bIns="0" rIns="0">
            <a:spAutoFit/>
          </a:bodyPr>
          <a:lstStyle/>
          <a:p>
            <a:pPr algn="just" marL="547543" indent="-273772" lvl="1">
              <a:lnSpc>
                <a:spcPts val="3804"/>
              </a:lnSpc>
              <a:buFont typeface="Arial"/>
              <a:buChar char="•"/>
            </a:pPr>
            <a:r>
              <a:rPr lang="en-US" sz="2536">
                <a:solidFill>
                  <a:srgbClr val="404040"/>
                </a:solidFill>
                <a:latin typeface="Trebuchet MS"/>
                <a:ea typeface="Trebuchet MS"/>
                <a:cs typeface="Trebuchet MS"/>
                <a:sym typeface="Trebuchet MS"/>
              </a:rPr>
              <a:t>Diseñar y definir las rutas y recursos necesarios para los servicios RESTful, seleccionando los métodos HTTP más adecuados para cada operación.</a:t>
            </a:r>
          </a:p>
          <a:p>
            <a:pPr algn="just" marL="547543" indent="-273772" lvl="1">
              <a:lnSpc>
                <a:spcPts val="3804"/>
              </a:lnSpc>
              <a:buFont typeface="Arial"/>
              <a:buChar char="•"/>
            </a:pPr>
            <a:r>
              <a:rPr lang="en-US" sz="2536">
                <a:solidFill>
                  <a:srgbClr val="404040"/>
                </a:solidFill>
                <a:latin typeface="Trebuchet MS"/>
                <a:ea typeface="Trebuchet MS"/>
                <a:cs typeface="Trebuchet MS"/>
                <a:sym typeface="Trebuchet MS"/>
              </a:rPr>
              <a:t>Implementar las funcionalidades de los servicios RESTful utilizando .NET, asegurando un manejo óptimo de las solicitudes y respuestas.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TextBox 48" id="48"/>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DESCRIPCIÓN DEL TRABAJO</a:t>
            </a:r>
          </a:p>
        </p:txBody>
      </p:sp>
      <p:sp>
        <p:nvSpPr>
          <p:cNvPr name="TextBox 49" id="49"/>
          <p:cNvSpPr txBox="true"/>
          <p:nvPr/>
        </p:nvSpPr>
        <p:spPr>
          <a:xfrm rot="0">
            <a:off x="1477137" y="2985506"/>
            <a:ext cx="9598540" cy="6059064"/>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Se debe implementar un Web Service para la conversión de unidades, en este caso unidades de presión, así como un Web Service para autenticar el ingreso al sistema.</a:t>
            </a:r>
          </a:p>
          <a:p>
            <a:pPr algn="just">
              <a:lnSpc>
                <a:spcPts val="2852"/>
              </a:lnSpc>
            </a:pPr>
          </a:p>
          <a:p>
            <a:pPr algn="just">
              <a:lnSpc>
                <a:spcPts val="2852"/>
              </a:lnSpc>
            </a:pPr>
            <a:r>
              <a:rPr lang="en-US" sz="2377">
                <a:solidFill>
                  <a:srgbClr val="FFFFFF"/>
                </a:solidFill>
                <a:latin typeface="Trebuchet MS"/>
                <a:ea typeface="Trebuchet MS"/>
                <a:cs typeface="Trebuchet MS"/>
                <a:sym typeface="Trebuchet MS"/>
              </a:rPr>
              <a:t>Se espera que el sistema transforme valores desde y hacia las siguientes unidades: </a:t>
            </a:r>
          </a:p>
          <a:p>
            <a:pPr algn="just" marL="513263" indent="-256631" lvl="1">
              <a:lnSpc>
                <a:spcPts val="2852"/>
              </a:lnSpc>
              <a:buFont typeface="Arial"/>
              <a:buChar char="•"/>
            </a:pPr>
            <a:r>
              <a:rPr lang="en-US" sz="2377">
                <a:solidFill>
                  <a:srgbClr val="FFFFFF"/>
                </a:solidFill>
                <a:latin typeface="Trebuchet MS"/>
                <a:ea typeface="Trebuchet MS"/>
                <a:cs typeface="Trebuchet MS"/>
                <a:sym typeface="Trebuchet MS"/>
              </a:rPr>
              <a:t>Pascales (PA)</a:t>
            </a:r>
          </a:p>
          <a:p>
            <a:pPr algn="just" marL="513263" indent="-256631" lvl="1">
              <a:lnSpc>
                <a:spcPts val="2852"/>
              </a:lnSpc>
              <a:buFont typeface="Arial"/>
              <a:buChar char="•"/>
            </a:pPr>
            <a:r>
              <a:rPr lang="en-US" sz="2377">
                <a:solidFill>
                  <a:srgbClr val="FFFFFF"/>
                </a:solidFill>
                <a:latin typeface="Trebuchet MS"/>
                <a:ea typeface="Trebuchet MS"/>
                <a:cs typeface="Trebuchet MS"/>
                <a:sym typeface="Trebuchet MS"/>
              </a:rPr>
              <a:t>BAR</a:t>
            </a:r>
          </a:p>
          <a:p>
            <a:pPr algn="just" marL="513263" indent="-256631" lvl="1">
              <a:lnSpc>
                <a:spcPts val="2852"/>
              </a:lnSpc>
              <a:buFont typeface="Arial"/>
              <a:buChar char="•"/>
            </a:pPr>
            <a:r>
              <a:rPr lang="en-US" sz="2377">
                <a:solidFill>
                  <a:srgbClr val="FFFFFF"/>
                </a:solidFill>
                <a:latin typeface="Trebuchet MS"/>
                <a:ea typeface="Trebuchet MS"/>
                <a:cs typeface="Trebuchet MS"/>
                <a:sym typeface="Trebuchet MS"/>
              </a:rPr>
              <a:t>Atmósferas (ATM)</a:t>
            </a:r>
          </a:p>
          <a:p>
            <a:pPr algn="just" marL="513263" indent="-256631" lvl="1">
              <a:lnSpc>
                <a:spcPts val="2852"/>
              </a:lnSpc>
              <a:buFont typeface="Arial"/>
              <a:buChar char="•"/>
            </a:pPr>
            <a:r>
              <a:rPr lang="en-US" sz="2377">
                <a:solidFill>
                  <a:srgbClr val="FFFFFF"/>
                </a:solidFill>
                <a:latin typeface="Trebuchet MS"/>
                <a:ea typeface="Trebuchet MS"/>
                <a:cs typeface="Trebuchet MS"/>
                <a:sym typeface="Trebuchet MS"/>
              </a:rPr>
              <a:t>Milímetros de Mercurio (mmHg)</a:t>
            </a:r>
          </a:p>
          <a:p>
            <a:pPr algn="just" marL="513263" indent="-256631" lvl="1">
              <a:lnSpc>
                <a:spcPts val="2852"/>
              </a:lnSpc>
              <a:buFont typeface="Arial"/>
              <a:buChar char="•"/>
            </a:pPr>
            <a:r>
              <a:rPr lang="en-US" sz="2377">
                <a:solidFill>
                  <a:srgbClr val="FFFFFF"/>
                </a:solidFill>
                <a:latin typeface="Trebuchet MS"/>
                <a:ea typeface="Trebuchet MS"/>
                <a:cs typeface="Trebuchet MS"/>
                <a:sym typeface="Trebuchet MS"/>
              </a:rPr>
              <a:t>Libras por pulgada cuadrada (PSI)</a:t>
            </a:r>
          </a:p>
          <a:p>
            <a:pPr algn="just">
              <a:lnSpc>
                <a:spcPts val="2852"/>
              </a:lnSpc>
            </a:pPr>
          </a:p>
          <a:p>
            <a:pPr algn="just">
              <a:lnSpc>
                <a:spcPts val="2852"/>
              </a:lnSpc>
            </a:pPr>
            <a:r>
              <a:rPr lang="en-US" sz="2377">
                <a:solidFill>
                  <a:srgbClr val="FFFFFF"/>
                </a:solidFill>
                <a:latin typeface="Trebuchet MS"/>
                <a:ea typeface="Trebuchet MS"/>
                <a:cs typeface="Trebuchet MS"/>
                <a:sym typeface="Trebuchet MS"/>
              </a:rPr>
              <a:t>Se espera que el sistema cuente con 4 clientes:</a:t>
            </a:r>
          </a:p>
          <a:p>
            <a:pPr algn="just" marL="513263" indent="-256631" lvl="1">
              <a:lnSpc>
                <a:spcPts val="2852"/>
              </a:lnSpc>
              <a:buFont typeface="Arial"/>
              <a:buChar char="•"/>
            </a:pPr>
            <a:r>
              <a:rPr lang="en-US" sz="2377">
                <a:solidFill>
                  <a:srgbClr val="FFFFFF"/>
                </a:solidFill>
                <a:latin typeface="Trebuchet MS"/>
                <a:ea typeface="Trebuchet MS"/>
                <a:cs typeface="Trebuchet MS"/>
                <a:sym typeface="Trebuchet MS"/>
              </a:rPr>
              <a:t>Consola</a:t>
            </a:r>
          </a:p>
          <a:p>
            <a:pPr algn="just" marL="513263" indent="-256631" lvl="1">
              <a:lnSpc>
                <a:spcPts val="2852"/>
              </a:lnSpc>
              <a:buFont typeface="Arial"/>
              <a:buChar char="•"/>
            </a:pPr>
            <a:r>
              <a:rPr lang="en-US" sz="2377">
                <a:solidFill>
                  <a:srgbClr val="FFFFFF"/>
                </a:solidFill>
                <a:latin typeface="Trebuchet MS"/>
                <a:ea typeface="Trebuchet MS"/>
                <a:cs typeface="Trebuchet MS"/>
                <a:sym typeface="Trebuchet MS"/>
              </a:rPr>
              <a:t>Móvil</a:t>
            </a:r>
          </a:p>
          <a:p>
            <a:pPr algn="just" marL="513263" indent="-256631" lvl="1">
              <a:lnSpc>
                <a:spcPts val="2852"/>
              </a:lnSpc>
              <a:buFont typeface="Arial"/>
              <a:buChar char="•"/>
            </a:pPr>
            <a:r>
              <a:rPr lang="en-US" sz="2377">
                <a:solidFill>
                  <a:srgbClr val="FFFFFF"/>
                </a:solidFill>
                <a:latin typeface="Trebuchet MS"/>
                <a:ea typeface="Trebuchet MS"/>
                <a:cs typeface="Trebuchet MS"/>
                <a:sym typeface="Trebuchet MS"/>
              </a:rPr>
              <a:t>Escritorio</a:t>
            </a:r>
          </a:p>
          <a:p>
            <a:pPr algn="just" marL="513263" indent="-256631" lvl="1">
              <a:lnSpc>
                <a:spcPts val="2852"/>
              </a:lnSpc>
              <a:buFont typeface="Arial"/>
              <a:buChar char="•"/>
            </a:pPr>
            <a:r>
              <a:rPr lang="en-US" sz="2377">
                <a:solidFill>
                  <a:srgbClr val="FFFFFF"/>
                </a:solidFill>
                <a:latin typeface="Trebuchet MS"/>
                <a:ea typeface="Trebuchet MS"/>
                <a:cs typeface="Trebuchet MS"/>
                <a:sym typeface="Trebuchet MS"/>
              </a:rPr>
              <a:t>Web</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7451779" y="4572000"/>
            <a:ext cx="4100097" cy="4311361"/>
          </a:xfrm>
          <a:custGeom>
            <a:avLst/>
            <a:gdLst/>
            <a:ahLst/>
            <a:cxnLst/>
            <a:rect r="r" b="b" t="t" l="l"/>
            <a:pathLst>
              <a:path h="4311361" w="4100097">
                <a:moveTo>
                  <a:pt x="0" y="0"/>
                </a:moveTo>
                <a:lnTo>
                  <a:pt x="4100097" y="0"/>
                </a:lnTo>
                <a:lnTo>
                  <a:pt x="4100097" y="4311361"/>
                </a:lnTo>
                <a:lnTo>
                  <a:pt x="0" y="4311361"/>
                </a:lnTo>
                <a:lnTo>
                  <a:pt x="0" y="0"/>
                </a:lnTo>
                <a:close/>
              </a:path>
            </a:pathLst>
          </a:custGeom>
          <a:blipFill>
            <a:blip r:embed="rId3"/>
            <a:stretch>
              <a:fillRect l="0" t="0" r="0" b="0"/>
            </a:stretch>
          </a:blipFill>
        </p:spPr>
      </p:sp>
      <p:sp>
        <p:nvSpPr>
          <p:cNvPr name="Freeform 68" id="68"/>
          <p:cNvSpPr/>
          <p:nvPr/>
        </p:nvSpPr>
        <p:spPr>
          <a:xfrm flipH="false" flipV="false" rot="0">
            <a:off x="12806699" y="4572000"/>
            <a:ext cx="3601799" cy="4311361"/>
          </a:xfrm>
          <a:custGeom>
            <a:avLst/>
            <a:gdLst/>
            <a:ahLst/>
            <a:cxnLst/>
            <a:rect r="r" b="b" t="t" l="l"/>
            <a:pathLst>
              <a:path h="4311361" w="3601799">
                <a:moveTo>
                  <a:pt x="0" y="0"/>
                </a:moveTo>
                <a:lnTo>
                  <a:pt x="3601799" y="0"/>
                </a:lnTo>
                <a:lnTo>
                  <a:pt x="3601799" y="4311361"/>
                </a:lnTo>
                <a:lnTo>
                  <a:pt x="0" y="4311361"/>
                </a:lnTo>
                <a:lnTo>
                  <a:pt x="0" y="0"/>
                </a:lnTo>
                <a:close/>
              </a:path>
            </a:pathLst>
          </a:custGeom>
          <a:blipFill>
            <a:blip r:embed="rId4"/>
            <a:stretch>
              <a:fillRect l="0" t="0" r="0" b="0"/>
            </a:stretch>
          </a:blipFill>
        </p:spPr>
      </p:sp>
      <p:sp>
        <p:nvSpPr>
          <p:cNvPr name="TextBox 69" id="69"/>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70" id="70"/>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Servidor</a:t>
            </a:r>
          </a:p>
        </p:txBody>
      </p:sp>
      <p:sp>
        <p:nvSpPr>
          <p:cNvPr name="TextBox 71" id="71"/>
          <p:cNvSpPr txBox="true"/>
          <p:nvPr/>
        </p:nvSpPr>
        <p:spPr>
          <a:xfrm rot="0">
            <a:off x="6824073" y="3249215"/>
            <a:ext cx="10408101" cy="95112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Para configurar el servidor, se debe crear una página web en IIS en una dirección donde luego se publicará el Web Service.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124712" y="4536460"/>
            <a:ext cx="9972035" cy="2966680"/>
          </a:xfrm>
          <a:custGeom>
            <a:avLst/>
            <a:gdLst/>
            <a:ahLst/>
            <a:cxnLst/>
            <a:rect r="r" b="b" t="t" l="l"/>
            <a:pathLst>
              <a:path h="2966680" w="9972035">
                <a:moveTo>
                  <a:pt x="0" y="0"/>
                </a:moveTo>
                <a:lnTo>
                  <a:pt x="9972035" y="0"/>
                </a:lnTo>
                <a:lnTo>
                  <a:pt x="9972035" y="2966680"/>
                </a:lnTo>
                <a:lnTo>
                  <a:pt x="0" y="2966680"/>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Se crea un proyecto ASP.NET Core Web API</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Servidor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596215" y="3968097"/>
            <a:ext cx="8950912" cy="4475456"/>
          </a:xfrm>
          <a:custGeom>
            <a:avLst/>
            <a:gdLst/>
            <a:ahLst/>
            <a:cxnLst/>
            <a:rect r="r" b="b" t="t" l="l"/>
            <a:pathLst>
              <a:path h="4475456" w="8950912">
                <a:moveTo>
                  <a:pt x="0" y="0"/>
                </a:moveTo>
                <a:lnTo>
                  <a:pt x="8950912" y="0"/>
                </a:lnTo>
                <a:lnTo>
                  <a:pt x="8950912" y="4475456"/>
                </a:lnTo>
                <a:lnTo>
                  <a:pt x="0" y="4475456"/>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Se crea un proyecto ASP.NET Core Web API</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Servidor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8861548" y="3964349"/>
            <a:ext cx="6547680" cy="4963994"/>
          </a:xfrm>
          <a:custGeom>
            <a:avLst/>
            <a:gdLst/>
            <a:ahLst/>
            <a:cxnLst/>
            <a:rect r="r" b="b" t="t" l="l"/>
            <a:pathLst>
              <a:path h="4963994" w="6547680">
                <a:moveTo>
                  <a:pt x="0" y="0"/>
                </a:moveTo>
                <a:lnTo>
                  <a:pt x="6547681" y="0"/>
                </a:lnTo>
                <a:lnTo>
                  <a:pt x="6547681" y="4963993"/>
                </a:lnTo>
                <a:lnTo>
                  <a:pt x="0" y="4963993"/>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Servidor</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la Arquitectura MVC.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7731392" y="4019365"/>
            <a:ext cx="8620588" cy="4924511"/>
          </a:xfrm>
          <a:custGeom>
            <a:avLst/>
            <a:gdLst/>
            <a:ahLst/>
            <a:cxnLst/>
            <a:rect r="r" b="b" t="t" l="l"/>
            <a:pathLst>
              <a:path h="4924511" w="8620588">
                <a:moveTo>
                  <a:pt x="0" y="0"/>
                </a:moveTo>
                <a:lnTo>
                  <a:pt x="8620589" y="0"/>
                </a:lnTo>
                <a:lnTo>
                  <a:pt x="8620589" y="4924511"/>
                </a:lnTo>
                <a:lnTo>
                  <a:pt x="0" y="4924511"/>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Servidor</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los modelos.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11010034" y="2042899"/>
            <a:ext cx="6078681" cy="6726065"/>
          </a:xfrm>
          <a:custGeom>
            <a:avLst/>
            <a:gdLst/>
            <a:ahLst/>
            <a:cxnLst/>
            <a:rect r="r" b="b" t="t" l="l"/>
            <a:pathLst>
              <a:path h="6726065" w="6078681">
                <a:moveTo>
                  <a:pt x="0" y="0"/>
                </a:moveTo>
                <a:lnTo>
                  <a:pt x="6078681" y="0"/>
                </a:lnTo>
                <a:lnTo>
                  <a:pt x="6078681" y="6726065"/>
                </a:lnTo>
                <a:lnTo>
                  <a:pt x="0" y="6726065"/>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Servidor</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los modelos.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730351" y="3968097"/>
            <a:ext cx="8682639" cy="4916544"/>
          </a:xfrm>
          <a:custGeom>
            <a:avLst/>
            <a:gdLst/>
            <a:ahLst/>
            <a:cxnLst/>
            <a:rect r="r" b="b" t="t" l="l"/>
            <a:pathLst>
              <a:path h="4916544" w="8682639">
                <a:moveTo>
                  <a:pt x="0" y="0"/>
                </a:moveTo>
                <a:lnTo>
                  <a:pt x="8682639" y="0"/>
                </a:lnTo>
                <a:lnTo>
                  <a:pt x="8682639" y="4916544"/>
                </a:lnTo>
                <a:lnTo>
                  <a:pt x="0" y="4916544"/>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Creación de los Controladores</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Servidor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2657528" y="3758235"/>
            <a:ext cx="6828285" cy="5377275"/>
          </a:xfrm>
          <a:custGeom>
            <a:avLst/>
            <a:gdLst/>
            <a:ahLst/>
            <a:cxnLst/>
            <a:rect r="r" b="b" t="t" l="l"/>
            <a:pathLst>
              <a:path h="5377275" w="6828285">
                <a:moveTo>
                  <a:pt x="0" y="0"/>
                </a:moveTo>
                <a:lnTo>
                  <a:pt x="6828285" y="0"/>
                </a:lnTo>
                <a:lnTo>
                  <a:pt x="6828285" y="5377275"/>
                </a:lnTo>
                <a:lnTo>
                  <a:pt x="0" y="5377275"/>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Creación de los Controladores</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Servidor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9941594" y="3283813"/>
            <a:ext cx="7661240" cy="5650165"/>
          </a:xfrm>
          <a:custGeom>
            <a:avLst/>
            <a:gdLst/>
            <a:ahLst/>
            <a:cxnLst/>
            <a:rect r="r" b="b" t="t" l="l"/>
            <a:pathLst>
              <a:path h="5650165" w="7661240">
                <a:moveTo>
                  <a:pt x="0" y="0"/>
                </a:moveTo>
                <a:lnTo>
                  <a:pt x="7661240" y="0"/>
                </a:lnTo>
                <a:lnTo>
                  <a:pt x="7661240" y="5650165"/>
                </a:lnTo>
                <a:lnTo>
                  <a:pt x="0" y="5650165"/>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Servidor</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Publicar servicio</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422690" y="3968097"/>
            <a:ext cx="9749573" cy="4813852"/>
          </a:xfrm>
          <a:custGeom>
            <a:avLst/>
            <a:gdLst/>
            <a:ahLst/>
            <a:cxnLst/>
            <a:rect r="r" b="b" t="t" l="l"/>
            <a:pathLst>
              <a:path h="4813852" w="9749573">
                <a:moveTo>
                  <a:pt x="0" y="0"/>
                </a:moveTo>
                <a:lnTo>
                  <a:pt x="9749574" y="0"/>
                </a:lnTo>
                <a:lnTo>
                  <a:pt x="9749574" y="4813852"/>
                </a:lnTo>
                <a:lnTo>
                  <a:pt x="0" y="4813852"/>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Publicar Servicio</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Servidor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6582755" y="4079997"/>
            <a:ext cx="10649419" cy="4073403"/>
          </a:xfrm>
          <a:custGeom>
            <a:avLst/>
            <a:gdLst/>
            <a:ahLst/>
            <a:cxnLst/>
            <a:rect r="r" b="b" t="t" l="l"/>
            <a:pathLst>
              <a:path h="4073403" w="10649419">
                <a:moveTo>
                  <a:pt x="0" y="0"/>
                </a:moveTo>
                <a:lnTo>
                  <a:pt x="10649419" y="0"/>
                </a:lnTo>
                <a:lnTo>
                  <a:pt x="10649419" y="4073403"/>
                </a:lnTo>
                <a:lnTo>
                  <a:pt x="0" y="4073403"/>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Servidor</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Métodos POST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7652775" y="3854860"/>
            <a:ext cx="7989165" cy="5182971"/>
          </a:xfrm>
          <a:custGeom>
            <a:avLst/>
            <a:gdLst/>
            <a:ahLst/>
            <a:cxnLst/>
            <a:rect r="r" b="b" t="t" l="l"/>
            <a:pathLst>
              <a:path h="5182971" w="7989165">
                <a:moveTo>
                  <a:pt x="0" y="0"/>
                </a:moveTo>
                <a:lnTo>
                  <a:pt x="7989165" y="0"/>
                </a:lnTo>
                <a:lnTo>
                  <a:pt x="7989165" y="5182971"/>
                </a:lnTo>
                <a:lnTo>
                  <a:pt x="0" y="5182971"/>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Servidor</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Métodos POST - Login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11031677" y="2296715"/>
            <a:ext cx="6479940" cy="6545394"/>
          </a:xfrm>
          <a:custGeom>
            <a:avLst/>
            <a:gdLst/>
            <a:ahLst/>
            <a:cxnLst/>
            <a:rect r="r" b="b" t="t" l="l"/>
            <a:pathLst>
              <a:path h="6545394" w="6479940">
                <a:moveTo>
                  <a:pt x="0" y="0"/>
                </a:moveTo>
                <a:lnTo>
                  <a:pt x="6479939" y="0"/>
                </a:lnTo>
                <a:lnTo>
                  <a:pt x="6479939" y="6545394"/>
                </a:lnTo>
                <a:lnTo>
                  <a:pt x="0" y="6545394"/>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Servidor</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Métodos POST - Conv</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216796" y="4508856"/>
            <a:ext cx="9879952" cy="3532083"/>
          </a:xfrm>
          <a:custGeom>
            <a:avLst/>
            <a:gdLst/>
            <a:ahLst/>
            <a:cxnLst/>
            <a:rect r="r" b="b" t="t" l="l"/>
            <a:pathLst>
              <a:path h="3532083" w="9879952">
                <a:moveTo>
                  <a:pt x="0" y="0"/>
                </a:moveTo>
                <a:lnTo>
                  <a:pt x="9879951" y="0"/>
                </a:lnTo>
                <a:lnTo>
                  <a:pt x="9879951" y="3532083"/>
                </a:lnTo>
                <a:lnTo>
                  <a:pt x="0" y="3532083"/>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Crear una aplicación de consola</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de Consola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667671" y="3968097"/>
            <a:ext cx="9217473" cy="5023523"/>
          </a:xfrm>
          <a:custGeom>
            <a:avLst/>
            <a:gdLst/>
            <a:ahLst/>
            <a:cxnLst/>
            <a:rect r="r" b="b" t="t" l="l"/>
            <a:pathLst>
              <a:path h="5023523" w="9217473">
                <a:moveTo>
                  <a:pt x="0" y="0"/>
                </a:moveTo>
                <a:lnTo>
                  <a:pt x="9217473" y="0"/>
                </a:lnTo>
                <a:lnTo>
                  <a:pt x="9217473" y="5023523"/>
                </a:lnTo>
                <a:lnTo>
                  <a:pt x="0" y="5023523"/>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Crear una aplicación de consola</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de Consola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7695188" y="4019365"/>
            <a:ext cx="8651393" cy="4575944"/>
          </a:xfrm>
          <a:custGeom>
            <a:avLst/>
            <a:gdLst/>
            <a:ahLst/>
            <a:cxnLst/>
            <a:rect r="r" b="b" t="t" l="l"/>
            <a:pathLst>
              <a:path h="4575944" w="8651393">
                <a:moveTo>
                  <a:pt x="0" y="0"/>
                </a:moveTo>
                <a:lnTo>
                  <a:pt x="8651394" y="0"/>
                </a:lnTo>
                <a:lnTo>
                  <a:pt x="8651394" y="4575943"/>
                </a:lnTo>
                <a:lnTo>
                  <a:pt x="0" y="4575943"/>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de Consola</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la Arquitectura MVC</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6377494" y="3974195"/>
            <a:ext cx="11301259" cy="4944301"/>
          </a:xfrm>
          <a:custGeom>
            <a:avLst/>
            <a:gdLst/>
            <a:ahLst/>
            <a:cxnLst/>
            <a:rect r="r" b="b" t="t" l="l"/>
            <a:pathLst>
              <a:path h="4944301" w="11301259">
                <a:moveTo>
                  <a:pt x="0" y="0"/>
                </a:moveTo>
                <a:lnTo>
                  <a:pt x="11301259" y="0"/>
                </a:lnTo>
                <a:lnTo>
                  <a:pt x="11301259" y="4944301"/>
                </a:lnTo>
                <a:lnTo>
                  <a:pt x="0" y="4944301"/>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de Consola</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los controladores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6424819" y="4276999"/>
            <a:ext cx="11417616" cy="4338694"/>
          </a:xfrm>
          <a:custGeom>
            <a:avLst/>
            <a:gdLst/>
            <a:ahLst/>
            <a:cxnLst/>
            <a:rect r="r" b="b" t="t" l="l"/>
            <a:pathLst>
              <a:path h="4338694" w="11417616">
                <a:moveTo>
                  <a:pt x="0" y="0"/>
                </a:moveTo>
                <a:lnTo>
                  <a:pt x="11417616" y="0"/>
                </a:lnTo>
                <a:lnTo>
                  <a:pt x="11417616" y="4338694"/>
                </a:lnTo>
                <a:lnTo>
                  <a:pt x="0" y="4338694"/>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de Consola</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los controladores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2051823" y="3840095"/>
            <a:ext cx="8449168" cy="5027255"/>
          </a:xfrm>
          <a:custGeom>
            <a:avLst/>
            <a:gdLst/>
            <a:ahLst/>
            <a:cxnLst/>
            <a:rect r="r" b="b" t="t" l="l"/>
            <a:pathLst>
              <a:path h="5027255" w="8449168">
                <a:moveTo>
                  <a:pt x="0" y="0"/>
                </a:moveTo>
                <a:lnTo>
                  <a:pt x="8449168" y="0"/>
                </a:lnTo>
                <a:lnTo>
                  <a:pt x="8449168" y="5027255"/>
                </a:lnTo>
                <a:lnTo>
                  <a:pt x="0" y="5027255"/>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de Consola</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de Consola</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912678" y="3801648"/>
            <a:ext cx="8727458" cy="5203747"/>
          </a:xfrm>
          <a:custGeom>
            <a:avLst/>
            <a:gdLst/>
            <a:ahLst/>
            <a:cxnLst/>
            <a:rect r="r" b="b" t="t" l="l"/>
            <a:pathLst>
              <a:path h="5203747" w="8727458">
                <a:moveTo>
                  <a:pt x="0" y="0"/>
                </a:moveTo>
                <a:lnTo>
                  <a:pt x="8727458" y="0"/>
                </a:lnTo>
                <a:lnTo>
                  <a:pt x="8727458" y="5203746"/>
                </a:lnTo>
                <a:lnTo>
                  <a:pt x="0" y="5203746"/>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de Consola</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de Consola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994491" y="3870522"/>
            <a:ext cx="8563832" cy="5170413"/>
          </a:xfrm>
          <a:custGeom>
            <a:avLst/>
            <a:gdLst/>
            <a:ahLst/>
            <a:cxnLst/>
            <a:rect r="r" b="b" t="t" l="l"/>
            <a:pathLst>
              <a:path h="5170413" w="8563832">
                <a:moveTo>
                  <a:pt x="0" y="0"/>
                </a:moveTo>
                <a:lnTo>
                  <a:pt x="8563832" y="0"/>
                </a:lnTo>
                <a:lnTo>
                  <a:pt x="8563832" y="5170414"/>
                </a:lnTo>
                <a:lnTo>
                  <a:pt x="0" y="5170414"/>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de Consola</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de Consola</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625723" y="3798601"/>
            <a:ext cx="8891896" cy="5279563"/>
          </a:xfrm>
          <a:custGeom>
            <a:avLst/>
            <a:gdLst/>
            <a:ahLst/>
            <a:cxnLst/>
            <a:rect r="r" b="b" t="t" l="l"/>
            <a:pathLst>
              <a:path h="5279563" w="8891896">
                <a:moveTo>
                  <a:pt x="0" y="0"/>
                </a:moveTo>
                <a:lnTo>
                  <a:pt x="8891896" y="0"/>
                </a:lnTo>
                <a:lnTo>
                  <a:pt x="8891896" y="5279563"/>
                </a:lnTo>
                <a:lnTo>
                  <a:pt x="0" y="5279563"/>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de Consola</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de Consola</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685551" y="3968097"/>
            <a:ext cx="8772240" cy="5252379"/>
          </a:xfrm>
          <a:custGeom>
            <a:avLst/>
            <a:gdLst/>
            <a:ahLst/>
            <a:cxnLst/>
            <a:rect r="r" b="b" t="t" l="l"/>
            <a:pathLst>
              <a:path h="5252379" w="8772240">
                <a:moveTo>
                  <a:pt x="0" y="0"/>
                </a:moveTo>
                <a:lnTo>
                  <a:pt x="8772240" y="0"/>
                </a:lnTo>
                <a:lnTo>
                  <a:pt x="8772240" y="5252379"/>
                </a:lnTo>
                <a:lnTo>
                  <a:pt x="0" y="5252379"/>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de Consola</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de Consola</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6062869" y="1667265"/>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8721523" y="3724090"/>
            <a:ext cx="6422907" cy="5335063"/>
          </a:xfrm>
          <a:custGeom>
            <a:avLst/>
            <a:gdLst/>
            <a:ahLst/>
            <a:cxnLst/>
            <a:rect r="r" b="b" t="t" l="l"/>
            <a:pathLst>
              <a:path h="5335063" w="6422907">
                <a:moveTo>
                  <a:pt x="0" y="0"/>
                </a:moveTo>
                <a:lnTo>
                  <a:pt x="6422907" y="0"/>
                </a:lnTo>
                <a:lnTo>
                  <a:pt x="6422907" y="5335063"/>
                </a:lnTo>
                <a:lnTo>
                  <a:pt x="0" y="5335063"/>
                </a:lnTo>
                <a:lnTo>
                  <a:pt x="0" y="0"/>
                </a:lnTo>
                <a:close/>
              </a:path>
            </a:pathLst>
          </a:custGeom>
          <a:blipFill>
            <a:blip r:embed="rId3"/>
            <a:stretch>
              <a:fillRect l="0" t="0" r="0" b="0"/>
            </a:stretch>
          </a:blipFill>
        </p:spPr>
      </p:sp>
      <p:grpSp>
        <p:nvGrpSpPr>
          <p:cNvPr name="Group 68" id="68"/>
          <p:cNvGrpSpPr/>
          <p:nvPr/>
        </p:nvGrpSpPr>
        <p:grpSpPr>
          <a:xfrm rot="0">
            <a:off x="9144000" y="4553744"/>
            <a:ext cx="5543757" cy="1166812"/>
            <a:chOff x="0" y="0"/>
            <a:chExt cx="1460084" cy="307308"/>
          </a:xfrm>
        </p:grpSpPr>
        <p:sp>
          <p:nvSpPr>
            <p:cNvPr name="Freeform 69" id="69"/>
            <p:cNvSpPr/>
            <p:nvPr/>
          </p:nvSpPr>
          <p:spPr>
            <a:xfrm flipH="false" flipV="false" rot="0">
              <a:off x="0" y="0"/>
              <a:ext cx="1460084" cy="307308"/>
            </a:xfrm>
            <a:custGeom>
              <a:avLst/>
              <a:gdLst/>
              <a:ahLst/>
              <a:cxnLst/>
              <a:rect r="r" b="b" t="t" l="l"/>
              <a:pathLst>
                <a:path h="307308" w="1460084">
                  <a:moveTo>
                    <a:pt x="0" y="0"/>
                  </a:moveTo>
                  <a:lnTo>
                    <a:pt x="1460084" y="0"/>
                  </a:lnTo>
                  <a:lnTo>
                    <a:pt x="1460084" y="307308"/>
                  </a:lnTo>
                  <a:lnTo>
                    <a:pt x="0" y="307308"/>
                  </a:lnTo>
                  <a:close/>
                </a:path>
              </a:pathLst>
            </a:custGeom>
            <a:solidFill>
              <a:srgbClr val="000000">
                <a:alpha val="0"/>
              </a:srgbClr>
            </a:solidFill>
            <a:ln w="57150" cap="sq">
              <a:solidFill>
                <a:srgbClr val="FF3131"/>
              </a:solidFill>
              <a:prstDash val="solid"/>
              <a:miter/>
            </a:ln>
          </p:spPr>
        </p:sp>
        <p:sp>
          <p:nvSpPr>
            <p:cNvPr name="TextBox 70" id="70"/>
            <p:cNvSpPr txBox="true"/>
            <p:nvPr/>
          </p:nvSpPr>
          <p:spPr>
            <a:xfrm>
              <a:off x="0" y="-9525"/>
              <a:ext cx="1460084" cy="316833"/>
            </a:xfrm>
            <a:prstGeom prst="rect">
              <a:avLst/>
            </a:prstGeom>
          </p:spPr>
          <p:txBody>
            <a:bodyPr anchor="ctr" rtlCol="false" tIns="50800" lIns="50800" bIns="50800" rIns="50800"/>
            <a:lstStyle/>
            <a:p>
              <a:pPr algn="ctr">
                <a:lnSpc>
                  <a:spcPts val="2852"/>
                </a:lnSpc>
              </a:pPr>
            </a:p>
          </p:txBody>
        </p:sp>
      </p:grpSp>
      <p:sp>
        <p:nvSpPr>
          <p:cNvPr name="TextBox 71" id="71"/>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72" id="72"/>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Escritorio</a:t>
            </a:r>
          </a:p>
        </p:txBody>
      </p:sp>
      <p:sp>
        <p:nvSpPr>
          <p:cNvPr name="TextBox 73" id="73"/>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Se crea una aplicación de Windows Forms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6062869" y="1667265"/>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7049847" y="4056354"/>
            <a:ext cx="9983679" cy="4779984"/>
          </a:xfrm>
          <a:custGeom>
            <a:avLst/>
            <a:gdLst/>
            <a:ahLst/>
            <a:cxnLst/>
            <a:rect r="r" b="b" t="t" l="l"/>
            <a:pathLst>
              <a:path h="4779984" w="9983679">
                <a:moveTo>
                  <a:pt x="0" y="0"/>
                </a:moveTo>
                <a:lnTo>
                  <a:pt x="9983679" y="0"/>
                </a:lnTo>
                <a:lnTo>
                  <a:pt x="9983679" y="4779984"/>
                </a:lnTo>
                <a:lnTo>
                  <a:pt x="0" y="4779984"/>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Escritorio</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Intalación de paquete NuGet: NewtonSoft.Json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6062869" y="1667265"/>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7400592" y="4101412"/>
            <a:ext cx="8945990" cy="4689867"/>
          </a:xfrm>
          <a:custGeom>
            <a:avLst/>
            <a:gdLst/>
            <a:ahLst/>
            <a:cxnLst/>
            <a:rect r="r" b="b" t="t" l="l"/>
            <a:pathLst>
              <a:path h="4689867" w="8945990">
                <a:moveTo>
                  <a:pt x="0" y="0"/>
                </a:moveTo>
                <a:lnTo>
                  <a:pt x="8945990" y="0"/>
                </a:lnTo>
                <a:lnTo>
                  <a:pt x="8945990" y="4689867"/>
                </a:lnTo>
                <a:lnTo>
                  <a:pt x="0" y="4689867"/>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Escritorio</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Arquitectura MVC</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477137" y="3577610"/>
            <a:ext cx="9610809" cy="4884381"/>
          </a:xfrm>
          <a:custGeom>
            <a:avLst/>
            <a:gdLst/>
            <a:ahLst/>
            <a:cxnLst/>
            <a:rect r="r" b="b" t="t" l="l"/>
            <a:pathLst>
              <a:path h="4884381" w="9610809">
                <a:moveTo>
                  <a:pt x="0" y="0"/>
                </a:moveTo>
                <a:lnTo>
                  <a:pt x="9610809" y="0"/>
                </a:lnTo>
                <a:lnTo>
                  <a:pt x="9610809" y="4884380"/>
                </a:lnTo>
                <a:lnTo>
                  <a:pt x="0" y="4884380"/>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de Escritorio</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6062869" y="1667265"/>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6424820" y="4834970"/>
            <a:ext cx="5240795" cy="3836519"/>
          </a:xfrm>
          <a:custGeom>
            <a:avLst/>
            <a:gdLst/>
            <a:ahLst/>
            <a:cxnLst/>
            <a:rect r="r" b="b" t="t" l="l"/>
            <a:pathLst>
              <a:path h="3836519" w="5240795">
                <a:moveTo>
                  <a:pt x="0" y="0"/>
                </a:moveTo>
                <a:lnTo>
                  <a:pt x="5240795" y="0"/>
                </a:lnTo>
                <a:lnTo>
                  <a:pt x="5240795" y="3836519"/>
                </a:lnTo>
                <a:lnTo>
                  <a:pt x="0" y="3836519"/>
                </a:lnTo>
                <a:lnTo>
                  <a:pt x="0" y="0"/>
                </a:lnTo>
                <a:close/>
              </a:path>
            </a:pathLst>
          </a:custGeom>
          <a:blipFill>
            <a:blip r:embed="rId3"/>
            <a:stretch>
              <a:fillRect l="0" t="0" r="0" b="0"/>
            </a:stretch>
          </a:blipFill>
        </p:spPr>
      </p:sp>
      <p:sp>
        <p:nvSpPr>
          <p:cNvPr name="Freeform 68" id="68"/>
          <p:cNvSpPr/>
          <p:nvPr/>
        </p:nvSpPr>
        <p:spPr>
          <a:xfrm flipH="false" flipV="false" rot="0">
            <a:off x="12175435" y="4572000"/>
            <a:ext cx="4782764" cy="4559472"/>
          </a:xfrm>
          <a:custGeom>
            <a:avLst/>
            <a:gdLst/>
            <a:ahLst/>
            <a:cxnLst/>
            <a:rect r="r" b="b" t="t" l="l"/>
            <a:pathLst>
              <a:path h="4559472" w="4782764">
                <a:moveTo>
                  <a:pt x="0" y="0"/>
                </a:moveTo>
                <a:lnTo>
                  <a:pt x="4782764" y="0"/>
                </a:lnTo>
                <a:lnTo>
                  <a:pt x="4782764" y="4559472"/>
                </a:lnTo>
                <a:lnTo>
                  <a:pt x="0" y="4559472"/>
                </a:lnTo>
                <a:lnTo>
                  <a:pt x="0" y="0"/>
                </a:lnTo>
                <a:close/>
              </a:path>
            </a:pathLst>
          </a:custGeom>
          <a:blipFill>
            <a:blip r:embed="rId4"/>
            <a:stretch>
              <a:fillRect l="0" t="0" r="0" b="0"/>
            </a:stretch>
          </a:blipFill>
        </p:spPr>
      </p:sp>
      <p:sp>
        <p:nvSpPr>
          <p:cNvPr name="TextBox 69" id="69"/>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70" id="70"/>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Escritorio</a:t>
            </a:r>
          </a:p>
        </p:txBody>
      </p:sp>
      <p:sp>
        <p:nvSpPr>
          <p:cNvPr name="TextBox 71" id="71"/>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Carpeta Modelo</a:t>
            </a:r>
          </a:p>
        </p:txBody>
      </p:sp>
      <p:sp>
        <p:nvSpPr>
          <p:cNvPr name="TextBox 72" id="72"/>
          <p:cNvSpPr txBox="true"/>
          <p:nvPr/>
        </p:nvSpPr>
        <p:spPr>
          <a:xfrm rot="0">
            <a:off x="6851199" y="3862982"/>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Los modelos de Login y Conversión son idénticos al cliente de consola</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6062869" y="1667265"/>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8732902" y="4814107"/>
            <a:ext cx="6965158" cy="4135562"/>
          </a:xfrm>
          <a:custGeom>
            <a:avLst/>
            <a:gdLst/>
            <a:ahLst/>
            <a:cxnLst/>
            <a:rect r="r" b="b" t="t" l="l"/>
            <a:pathLst>
              <a:path h="4135562" w="6965158">
                <a:moveTo>
                  <a:pt x="0" y="0"/>
                </a:moveTo>
                <a:lnTo>
                  <a:pt x="6965158" y="0"/>
                </a:lnTo>
                <a:lnTo>
                  <a:pt x="6965158" y="4135563"/>
                </a:lnTo>
                <a:lnTo>
                  <a:pt x="0" y="4135563"/>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Escritorio</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Carpeta Controller</a:t>
            </a:r>
          </a:p>
        </p:txBody>
      </p:sp>
      <p:sp>
        <p:nvSpPr>
          <p:cNvPr name="TextBox 71" id="71"/>
          <p:cNvSpPr txBox="true"/>
          <p:nvPr/>
        </p:nvSpPr>
        <p:spPr>
          <a:xfrm rot="0">
            <a:off x="6851199" y="3862982"/>
            <a:ext cx="10408101" cy="95112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Los controladores de Login y Conversión son idénticos al cliente de consola</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346735" y="3968097"/>
            <a:ext cx="9901483" cy="4591813"/>
          </a:xfrm>
          <a:custGeom>
            <a:avLst/>
            <a:gdLst/>
            <a:ahLst/>
            <a:cxnLst/>
            <a:rect r="r" b="b" t="t" l="l"/>
            <a:pathLst>
              <a:path h="4591813" w="9901483">
                <a:moveTo>
                  <a:pt x="0" y="0"/>
                </a:moveTo>
                <a:lnTo>
                  <a:pt x="9901484" y="0"/>
                </a:lnTo>
                <a:lnTo>
                  <a:pt x="9901484" y="4591813"/>
                </a:lnTo>
                <a:lnTo>
                  <a:pt x="0" y="4591813"/>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de Escritorio</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de Escritorio</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641161" y="3968097"/>
            <a:ext cx="9270492" cy="5064179"/>
          </a:xfrm>
          <a:custGeom>
            <a:avLst/>
            <a:gdLst/>
            <a:ahLst/>
            <a:cxnLst/>
            <a:rect r="r" b="b" t="t" l="l"/>
            <a:pathLst>
              <a:path h="5064179" w="9270492">
                <a:moveTo>
                  <a:pt x="0" y="0"/>
                </a:moveTo>
                <a:lnTo>
                  <a:pt x="9270492" y="0"/>
                </a:lnTo>
                <a:lnTo>
                  <a:pt x="9270492" y="5064179"/>
                </a:lnTo>
                <a:lnTo>
                  <a:pt x="0" y="5064179"/>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de Escritorio</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de Escritorio</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6391057" y="4572000"/>
            <a:ext cx="11301259" cy="4181466"/>
          </a:xfrm>
          <a:custGeom>
            <a:avLst/>
            <a:gdLst/>
            <a:ahLst/>
            <a:cxnLst/>
            <a:rect r="r" b="b" t="t" l="l"/>
            <a:pathLst>
              <a:path h="4181466" w="11301259">
                <a:moveTo>
                  <a:pt x="0" y="0"/>
                </a:moveTo>
                <a:lnTo>
                  <a:pt x="11301259" y="0"/>
                </a:lnTo>
                <a:lnTo>
                  <a:pt x="11301259" y="4181466"/>
                </a:lnTo>
                <a:lnTo>
                  <a:pt x="0" y="4181466"/>
                </a:lnTo>
                <a:lnTo>
                  <a:pt x="0" y="0"/>
                </a:lnTo>
                <a:close/>
              </a:path>
            </a:pathLst>
          </a:custGeom>
          <a:blipFill>
            <a:blip r:embed="rId3"/>
            <a:stretch>
              <a:fillRect l="0" t="0" r="0" b="0"/>
            </a:stretch>
          </a:blipFill>
        </p:spPr>
      </p:sp>
      <p:grpSp>
        <p:nvGrpSpPr>
          <p:cNvPr name="Group 68" id="68"/>
          <p:cNvGrpSpPr/>
          <p:nvPr/>
        </p:nvGrpSpPr>
        <p:grpSpPr>
          <a:xfrm rot="0">
            <a:off x="7052441" y="7040765"/>
            <a:ext cx="9867927" cy="1166812"/>
            <a:chOff x="0" y="0"/>
            <a:chExt cx="2598960" cy="307308"/>
          </a:xfrm>
        </p:grpSpPr>
        <p:sp>
          <p:nvSpPr>
            <p:cNvPr name="Freeform 69" id="69"/>
            <p:cNvSpPr/>
            <p:nvPr/>
          </p:nvSpPr>
          <p:spPr>
            <a:xfrm flipH="false" flipV="false" rot="0">
              <a:off x="0" y="0"/>
              <a:ext cx="2598960" cy="307308"/>
            </a:xfrm>
            <a:custGeom>
              <a:avLst/>
              <a:gdLst/>
              <a:ahLst/>
              <a:cxnLst/>
              <a:rect r="r" b="b" t="t" l="l"/>
              <a:pathLst>
                <a:path h="307308" w="2598960">
                  <a:moveTo>
                    <a:pt x="0" y="0"/>
                  </a:moveTo>
                  <a:lnTo>
                    <a:pt x="2598960" y="0"/>
                  </a:lnTo>
                  <a:lnTo>
                    <a:pt x="2598960" y="307308"/>
                  </a:lnTo>
                  <a:lnTo>
                    <a:pt x="0" y="307308"/>
                  </a:lnTo>
                  <a:close/>
                </a:path>
              </a:pathLst>
            </a:custGeom>
            <a:solidFill>
              <a:srgbClr val="000000">
                <a:alpha val="0"/>
              </a:srgbClr>
            </a:solidFill>
            <a:ln w="57150" cap="sq">
              <a:solidFill>
                <a:srgbClr val="FF3131"/>
              </a:solidFill>
              <a:prstDash val="solid"/>
              <a:miter/>
            </a:ln>
          </p:spPr>
        </p:sp>
        <p:sp>
          <p:nvSpPr>
            <p:cNvPr name="TextBox 70" id="70"/>
            <p:cNvSpPr txBox="true"/>
            <p:nvPr/>
          </p:nvSpPr>
          <p:spPr>
            <a:xfrm>
              <a:off x="0" y="-9525"/>
              <a:ext cx="2598960" cy="316833"/>
            </a:xfrm>
            <a:prstGeom prst="rect">
              <a:avLst/>
            </a:prstGeom>
          </p:spPr>
          <p:txBody>
            <a:bodyPr anchor="ctr" rtlCol="false" tIns="50800" lIns="50800" bIns="50800" rIns="50800"/>
            <a:lstStyle/>
            <a:p>
              <a:pPr algn="ctr">
                <a:lnSpc>
                  <a:spcPts val="2852"/>
                </a:lnSpc>
              </a:pPr>
            </a:p>
          </p:txBody>
        </p:sp>
      </p:grpSp>
      <p:sp>
        <p:nvSpPr>
          <p:cNvPr name="TextBox 71" id="71"/>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72" id="72"/>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Web</a:t>
            </a:r>
          </a:p>
        </p:txBody>
      </p:sp>
      <p:sp>
        <p:nvSpPr>
          <p:cNvPr name="TextBox 73" id="73"/>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Se crea una aplicación ASP.NET Core Web App</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8459377" y="3724090"/>
            <a:ext cx="6826569" cy="5332755"/>
          </a:xfrm>
          <a:custGeom>
            <a:avLst/>
            <a:gdLst/>
            <a:ahLst/>
            <a:cxnLst/>
            <a:rect r="r" b="b" t="t" l="l"/>
            <a:pathLst>
              <a:path h="5332755" w="6826569">
                <a:moveTo>
                  <a:pt x="0" y="0"/>
                </a:moveTo>
                <a:lnTo>
                  <a:pt x="6826569" y="0"/>
                </a:lnTo>
                <a:lnTo>
                  <a:pt x="6826569" y="5332755"/>
                </a:lnTo>
                <a:lnTo>
                  <a:pt x="0" y="5332755"/>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Web</a:t>
            </a:r>
          </a:p>
        </p:txBody>
      </p:sp>
      <p:sp>
        <p:nvSpPr>
          <p:cNvPr name="TextBox 70" id="70"/>
          <p:cNvSpPr txBox="true"/>
          <p:nvPr/>
        </p:nvSpPr>
        <p:spPr>
          <a:xfrm rot="0">
            <a:off x="6824073" y="31349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la Arquitectura MVC</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458087" y="3813373"/>
            <a:ext cx="9361498" cy="5300948"/>
          </a:xfrm>
          <a:custGeom>
            <a:avLst/>
            <a:gdLst/>
            <a:ahLst/>
            <a:cxnLst/>
            <a:rect r="r" b="b" t="t" l="l"/>
            <a:pathLst>
              <a:path h="5300948" w="9361498">
                <a:moveTo>
                  <a:pt x="0" y="0"/>
                </a:moveTo>
                <a:lnTo>
                  <a:pt x="9361498" y="0"/>
                </a:lnTo>
                <a:lnTo>
                  <a:pt x="9361498" y="5300948"/>
                </a:lnTo>
                <a:lnTo>
                  <a:pt x="0" y="5300948"/>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Creación de los Controladores</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Web</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249370" y="3977566"/>
            <a:ext cx="10054074" cy="4084467"/>
          </a:xfrm>
          <a:custGeom>
            <a:avLst/>
            <a:gdLst/>
            <a:ahLst/>
            <a:cxnLst/>
            <a:rect r="r" b="b" t="t" l="l"/>
            <a:pathLst>
              <a:path h="4084467" w="10054074">
                <a:moveTo>
                  <a:pt x="0" y="0"/>
                </a:moveTo>
                <a:lnTo>
                  <a:pt x="10054074" y="0"/>
                </a:lnTo>
                <a:lnTo>
                  <a:pt x="10054074" y="4084468"/>
                </a:lnTo>
                <a:lnTo>
                  <a:pt x="0" y="4084468"/>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Creación de los Controladores</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Web</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7739199" y="3910609"/>
            <a:ext cx="8009306" cy="5071473"/>
          </a:xfrm>
          <a:custGeom>
            <a:avLst/>
            <a:gdLst/>
            <a:ahLst/>
            <a:cxnLst/>
            <a:rect r="r" b="b" t="t" l="l"/>
            <a:pathLst>
              <a:path h="5071473" w="8009306">
                <a:moveTo>
                  <a:pt x="0" y="0"/>
                </a:moveTo>
                <a:lnTo>
                  <a:pt x="8009306" y="0"/>
                </a:lnTo>
                <a:lnTo>
                  <a:pt x="8009306" y="5071473"/>
                </a:lnTo>
                <a:lnTo>
                  <a:pt x="0" y="5071473"/>
                </a:lnTo>
                <a:lnTo>
                  <a:pt x="0" y="0"/>
                </a:lnTo>
                <a:close/>
              </a:path>
            </a:pathLst>
          </a:custGeom>
          <a:blipFill>
            <a:blip r:embed="rId3"/>
            <a:stretch>
              <a:fillRect l="0" t="-1228" r="0" b="-1228"/>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Web</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las vistas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7122490" y="3938587"/>
            <a:ext cx="9553365" cy="5015517"/>
          </a:xfrm>
          <a:custGeom>
            <a:avLst/>
            <a:gdLst/>
            <a:ahLst/>
            <a:cxnLst/>
            <a:rect r="r" b="b" t="t" l="l"/>
            <a:pathLst>
              <a:path h="5015517" w="9553365">
                <a:moveTo>
                  <a:pt x="0" y="0"/>
                </a:moveTo>
                <a:lnTo>
                  <a:pt x="9553365" y="0"/>
                </a:lnTo>
                <a:lnTo>
                  <a:pt x="9553365" y="5015517"/>
                </a:lnTo>
                <a:lnTo>
                  <a:pt x="0" y="5015517"/>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Web</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las vistas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5306518" y="2644535"/>
            <a:ext cx="5969926" cy="6410659"/>
          </a:xfrm>
          <a:custGeom>
            <a:avLst/>
            <a:gdLst/>
            <a:ahLst/>
            <a:cxnLst/>
            <a:rect r="r" b="b" t="t" l="l"/>
            <a:pathLst>
              <a:path h="6410659" w="5969926">
                <a:moveTo>
                  <a:pt x="0" y="0"/>
                </a:moveTo>
                <a:lnTo>
                  <a:pt x="5969925" y="0"/>
                </a:lnTo>
                <a:lnTo>
                  <a:pt x="5969925" y="6410659"/>
                </a:lnTo>
                <a:lnTo>
                  <a:pt x="0" y="6410659"/>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Web</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Web</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5287031" y="2644535"/>
            <a:ext cx="6091127" cy="6488551"/>
          </a:xfrm>
          <a:custGeom>
            <a:avLst/>
            <a:gdLst/>
            <a:ahLst/>
            <a:cxnLst/>
            <a:rect r="r" b="b" t="t" l="l"/>
            <a:pathLst>
              <a:path h="6488551" w="6091127">
                <a:moveTo>
                  <a:pt x="0" y="0"/>
                </a:moveTo>
                <a:lnTo>
                  <a:pt x="6091127" y="0"/>
                </a:lnTo>
                <a:lnTo>
                  <a:pt x="6091127" y="6488551"/>
                </a:lnTo>
                <a:lnTo>
                  <a:pt x="0" y="6488551"/>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Web</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Web</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5275112" y="2822463"/>
            <a:ext cx="5991433" cy="6356958"/>
          </a:xfrm>
          <a:custGeom>
            <a:avLst/>
            <a:gdLst/>
            <a:ahLst/>
            <a:cxnLst/>
            <a:rect r="r" b="b" t="t" l="l"/>
            <a:pathLst>
              <a:path h="6356958" w="5991433">
                <a:moveTo>
                  <a:pt x="0" y="0"/>
                </a:moveTo>
                <a:lnTo>
                  <a:pt x="5991433" y="0"/>
                </a:lnTo>
                <a:lnTo>
                  <a:pt x="5991433" y="6356958"/>
                </a:lnTo>
                <a:lnTo>
                  <a:pt x="0" y="6356958"/>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Web</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Web</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5285307" y="2644535"/>
            <a:ext cx="5943756" cy="6356958"/>
          </a:xfrm>
          <a:custGeom>
            <a:avLst/>
            <a:gdLst/>
            <a:ahLst/>
            <a:cxnLst/>
            <a:rect r="r" b="b" t="t" l="l"/>
            <a:pathLst>
              <a:path h="6356958" w="5943756">
                <a:moveTo>
                  <a:pt x="0" y="0"/>
                </a:moveTo>
                <a:lnTo>
                  <a:pt x="5943756" y="0"/>
                </a:lnTo>
                <a:lnTo>
                  <a:pt x="5943756" y="6356958"/>
                </a:lnTo>
                <a:lnTo>
                  <a:pt x="0" y="6356958"/>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Web</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Web</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6484759" y="4572000"/>
            <a:ext cx="11301259" cy="3362125"/>
          </a:xfrm>
          <a:custGeom>
            <a:avLst/>
            <a:gdLst/>
            <a:ahLst/>
            <a:cxnLst/>
            <a:rect r="r" b="b" t="t" l="l"/>
            <a:pathLst>
              <a:path h="3362125" w="11301259">
                <a:moveTo>
                  <a:pt x="0" y="0"/>
                </a:moveTo>
                <a:lnTo>
                  <a:pt x="11301259" y="0"/>
                </a:lnTo>
                <a:lnTo>
                  <a:pt x="11301259" y="3362125"/>
                </a:lnTo>
                <a:lnTo>
                  <a:pt x="0" y="3362125"/>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Móvil</a:t>
            </a:r>
          </a:p>
        </p:txBody>
      </p:sp>
      <p:sp>
        <p:nvSpPr>
          <p:cNvPr name="TextBox 70" id="70"/>
          <p:cNvSpPr txBox="true"/>
          <p:nvPr/>
        </p:nvSpPr>
        <p:spPr>
          <a:xfrm rot="0">
            <a:off x="6824073" y="32492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Se crea un proyecto móvil .NET MAUI</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8525721" y="3790765"/>
            <a:ext cx="6557961" cy="5225875"/>
          </a:xfrm>
          <a:custGeom>
            <a:avLst/>
            <a:gdLst/>
            <a:ahLst/>
            <a:cxnLst/>
            <a:rect r="r" b="b" t="t" l="l"/>
            <a:pathLst>
              <a:path h="5225875" w="6557961">
                <a:moveTo>
                  <a:pt x="0" y="0"/>
                </a:moveTo>
                <a:lnTo>
                  <a:pt x="6557961" y="0"/>
                </a:lnTo>
                <a:lnTo>
                  <a:pt x="6557961" y="5225875"/>
                </a:lnTo>
                <a:lnTo>
                  <a:pt x="0" y="5225875"/>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Móvil</a:t>
            </a:r>
          </a:p>
        </p:txBody>
      </p:sp>
      <p:sp>
        <p:nvSpPr>
          <p:cNvPr name="TextBox 70" id="70"/>
          <p:cNvSpPr txBox="true"/>
          <p:nvPr/>
        </p:nvSpPr>
        <p:spPr>
          <a:xfrm rot="0">
            <a:off x="6824073" y="31349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la Arquitectura MVC</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336431" y="4169834"/>
            <a:ext cx="9879952" cy="4520078"/>
          </a:xfrm>
          <a:custGeom>
            <a:avLst/>
            <a:gdLst/>
            <a:ahLst/>
            <a:cxnLst/>
            <a:rect r="r" b="b" t="t" l="l"/>
            <a:pathLst>
              <a:path h="4520078" w="9879952">
                <a:moveTo>
                  <a:pt x="0" y="0"/>
                </a:moveTo>
                <a:lnTo>
                  <a:pt x="9879952" y="0"/>
                </a:lnTo>
                <a:lnTo>
                  <a:pt x="9879952" y="4520078"/>
                </a:lnTo>
                <a:lnTo>
                  <a:pt x="0" y="4520078"/>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Creación de los Controladores</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Móvil</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1297588" y="4493767"/>
            <a:ext cx="9999778" cy="3774916"/>
          </a:xfrm>
          <a:custGeom>
            <a:avLst/>
            <a:gdLst/>
            <a:ahLst/>
            <a:cxnLst/>
            <a:rect r="r" b="b" t="t" l="l"/>
            <a:pathLst>
              <a:path h="3774916" w="9999778">
                <a:moveTo>
                  <a:pt x="0" y="0"/>
                </a:moveTo>
                <a:lnTo>
                  <a:pt x="9999778" y="0"/>
                </a:lnTo>
                <a:lnTo>
                  <a:pt x="9999778" y="3774916"/>
                </a:lnTo>
                <a:lnTo>
                  <a:pt x="0" y="3774916"/>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Creación de los Controladores</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Móvil</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6171912" y="4805766"/>
            <a:ext cx="12007046" cy="3166858"/>
          </a:xfrm>
          <a:custGeom>
            <a:avLst/>
            <a:gdLst/>
            <a:ahLst/>
            <a:cxnLst/>
            <a:rect r="r" b="b" t="t" l="l"/>
            <a:pathLst>
              <a:path h="3166858" w="12007046">
                <a:moveTo>
                  <a:pt x="0" y="0"/>
                </a:moveTo>
                <a:lnTo>
                  <a:pt x="12007046" y="0"/>
                </a:lnTo>
                <a:lnTo>
                  <a:pt x="12007046" y="3166859"/>
                </a:lnTo>
                <a:lnTo>
                  <a:pt x="0" y="3166859"/>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Móvil</a:t>
            </a:r>
          </a:p>
        </p:txBody>
      </p:sp>
      <p:sp>
        <p:nvSpPr>
          <p:cNvPr name="TextBox 70" id="70"/>
          <p:cNvSpPr txBox="true"/>
          <p:nvPr/>
        </p:nvSpPr>
        <p:spPr>
          <a:xfrm rot="0">
            <a:off x="6824073" y="31349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las Vistas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67" id="67"/>
          <p:cNvSpPr/>
          <p:nvPr/>
        </p:nvSpPr>
        <p:spPr>
          <a:xfrm flipH="false" flipV="false" rot="0">
            <a:off x="6333217" y="4181290"/>
            <a:ext cx="11684435" cy="4483902"/>
          </a:xfrm>
          <a:custGeom>
            <a:avLst/>
            <a:gdLst/>
            <a:ahLst/>
            <a:cxnLst/>
            <a:rect r="r" b="b" t="t" l="l"/>
            <a:pathLst>
              <a:path h="4483902" w="11684435">
                <a:moveTo>
                  <a:pt x="0" y="0"/>
                </a:moveTo>
                <a:lnTo>
                  <a:pt x="11684435" y="0"/>
                </a:lnTo>
                <a:lnTo>
                  <a:pt x="11684435" y="4483902"/>
                </a:lnTo>
                <a:lnTo>
                  <a:pt x="0" y="4483902"/>
                </a:lnTo>
                <a:lnTo>
                  <a:pt x="0" y="0"/>
                </a:lnTo>
                <a:close/>
              </a:path>
            </a:pathLst>
          </a:custGeom>
          <a:blipFill>
            <a:blip r:embed="rId3"/>
            <a:stretch>
              <a:fillRect l="0" t="0" r="0" b="0"/>
            </a:stretch>
          </a:blipFill>
        </p:spPr>
      </p:sp>
      <p:sp>
        <p:nvSpPr>
          <p:cNvPr name="TextBox 68" id="68"/>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DESARROLLO</a:t>
            </a:r>
          </a:p>
        </p:txBody>
      </p:sp>
      <p:sp>
        <p:nvSpPr>
          <p:cNvPr name="TextBox 69" id="69"/>
          <p:cNvSpPr txBox="true"/>
          <p:nvPr/>
        </p:nvSpPr>
        <p:spPr>
          <a:xfrm rot="0">
            <a:off x="6851199" y="2649140"/>
            <a:ext cx="10380975" cy="400050"/>
          </a:xfrm>
          <a:prstGeom prst="rect">
            <a:avLst/>
          </a:prstGeom>
        </p:spPr>
        <p:txBody>
          <a:bodyPr anchor="t" rtlCol="false" tIns="0" lIns="0" bIns="0" rIns="0">
            <a:spAutoFit/>
          </a:bodyPr>
          <a:lstStyle/>
          <a:p>
            <a:pPr algn="l">
              <a:lnSpc>
                <a:spcPts val="3120"/>
              </a:lnSpc>
            </a:pPr>
            <a:r>
              <a:rPr lang="en-US" sz="2600" b="true">
                <a:solidFill>
                  <a:srgbClr val="90C226"/>
                </a:solidFill>
                <a:latin typeface="Trebuchet MS Bold"/>
                <a:ea typeface="Trebuchet MS Bold"/>
                <a:cs typeface="Trebuchet MS Bold"/>
                <a:sym typeface="Trebuchet MS Bold"/>
              </a:rPr>
              <a:t>Creación del Cliente Móvil</a:t>
            </a:r>
          </a:p>
        </p:txBody>
      </p:sp>
      <p:sp>
        <p:nvSpPr>
          <p:cNvPr name="TextBox 70" id="70"/>
          <p:cNvSpPr txBox="true"/>
          <p:nvPr/>
        </p:nvSpPr>
        <p:spPr>
          <a:xfrm rot="0">
            <a:off x="6824073" y="3134915"/>
            <a:ext cx="10408101" cy="474875"/>
          </a:xfrm>
          <a:prstGeom prst="rect">
            <a:avLst/>
          </a:prstGeom>
        </p:spPr>
        <p:txBody>
          <a:bodyPr anchor="t" rtlCol="false" tIns="0" lIns="0" bIns="0" rIns="0">
            <a:spAutoFit/>
          </a:bodyPr>
          <a:lstStyle/>
          <a:p>
            <a:pPr algn="just">
              <a:lnSpc>
                <a:spcPts val="3804"/>
              </a:lnSpc>
            </a:pPr>
            <a:r>
              <a:rPr lang="en-US" sz="2536">
                <a:solidFill>
                  <a:srgbClr val="404040"/>
                </a:solidFill>
                <a:latin typeface="Trebuchet MS"/>
                <a:ea typeface="Trebuchet MS"/>
                <a:cs typeface="Trebuchet MS"/>
                <a:sym typeface="Trebuchet MS"/>
              </a:rPr>
              <a:t>Creación de las Vistas</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7312914" y="1549366"/>
            <a:ext cx="3662173" cy="7570382"/>
          </a:xfrm>
          <a:custGeom>
            <a:avLst/>
            <a:gdLst/>
            <a:ahLst/>
            <a:cxnLst/>
            <a:rect r="r" b="b" t="t" l="l"/>
            <a:pathLst>
              <a:path h="7570382" w="3662173">
                <a:moveTo>
                  <a:pt x="0" y="0"/>
                </a:moveTo>
                <a:lnTo>
                  <a:pt x="3662172" y="0"/>
                </a:lnTo>
                <a:lnTo>
                  <a:pt x="3662172" y="7570382"/>
                </a:lnTo>
                <a:lnTo>
                  <a:pt x="0" y="7570382"/>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Móvil</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Móvil</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7259793" y="1448117"/>
            <a:ext cx="3768413" cy="7810183"/>
          </a:xfrm>
          <a:custGeom>
            <a:avLst/>
            <a:gdLst/>
            <a:ahLst/>
            <a:cxnLst/>
            <a:rect r="r" b="b" t="t" l="l"/>
            <a:pathLst>
              <a:path h="7810183" w="3768413">
                <a:moveTo>
                  <a:pt x="0" y="0"/>
                </a:moveTo>
                <a:lnTo>
                  <a:pt x="3768414" y="0"/>
                </a:lnTo>
                <a:lnTo>
                  <a:pt x="3768414" y="7810183"/>
                </a:lnTo>
                <a:lnTo>
                  <a:pt x="0" y="7810183"/>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Móvil</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Móvil</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7175753" y="1360750"/>
            <a:ext cx="3790824" cy="7897550"/>
          </a:xfrm>
          <a:custGeom>
            <a:avLst/>
            <a:gdLst/>
            <a:ahLst/>
            <a:cxnLst/>
            <a:rect r="r" b="b" t="t" l="l"/>
            <a:pathLst>
              <a:path h="7897550" w="3790824">
                <a:moveTo>
                  <a:pt x="0" y="0"/>
                </a:moveTo>
                <a:lnTo>
                  <a:pt x="3790824" y="0"/>
                </a:lnTo>
                <a:lnTo>
                  <a:pt x="3790824" y="7897550"/>
                </a:lnTo>
                <a:lnTo>
                  <a:pt x="0" y="7897550"/>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Móvil</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Móvil</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7214221" y="1324627"/>
            <a:ext cx="3859558" cy="8019861"/>
          </a:xfrm>
          <a:custGeom>
            <a:avLst/>
            <a:gdLst/>
            <a:ahLst/>
            <a:cxnLst/>
            <a:rect r="r" b="b" t="t" l="l"/>
            <a:pathLst>
              <a:path h="8019861" w="3859558">
                <a:moveTo>
                  <a:pt x="0" y="0"/>
                </a:moveTo>
                <a:lnTo>
                  <a:pt x="3859558" y="0"/>
                </a:lnTo>
                <a:lnTo>
                  <a:pt x="3859558" y="8019860"/>
                </a:lnTo>
                <a:lnTo>
                  <a:pt x="0" y="8019860"/>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Móvil</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Móvil</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0" y="6019800"/>
            <a:ext cx="673100" cy="4267200"/>
            <a:chOff x="0" y="0"/>
            <a:chExt cx="897466" cy="5689600"/>
          </a:xfrm>
        </p:grpSpPr>
        <p:sp>
          <p:nvSpPr>
            <p:cNvPr name="Freeform 3" id="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4" id="4"/>
          <p:cNvGrpSpPr/>
          <p:nvPr/>
        </p:nvGrpSpPr>
        <p:grpSpPr>
          <a:xfrm rot="0">
            <a:off x="2" y="1238533"/>
            <a:ext cx="11528592" cy="8192047"/>
            <a:chOff x="0" y="0"/>
            <a:chExt cx="15371456" cy="10922730"/>
          </a:xfrm>
        </p:grpSpPr>
        <p:sp>
          <p:nvSpPr>
            <p:cNvPr name="Freeform 5" id="5"/>
            <p:cNvSpPr/>
            <p:nvPr/>
          </p:nvSpPr>
          <p:spPr>
            <a:xfrm flipH="false" flipV="false" rot="0">
              <a:off x="0" y="0"/>
              <a:ext cx="15371445" cy="10922723"/>
            </a:xfrm>
            <a:custGeom>
              <a:avLst/>
              <a:gdLst/>
              <a:ahLst/>
              <a:cxnLst/>
              <a:rect r="r" b="b" t="t" l="l"/>
              <a:pathLst>
                <a:path h="10922723" w="15371445">
                  <a:moveTo>
                    <a:pt x="0" y="0"/>
                  </a:moveTo>
                  <a:lnTo>
                    <a:pt x="15371445" y="0"/>
                  </a:lnTo>
                  <a:lnTo>
                    <a:pt x="15371445" y="10922723"/>
                  </a:lnTo>
                  <a:lnTo>
                    <a:pt x="0" y="10922723"/>
                  </a:lnTo>
                  <a:close/>
                </a:path>
              </a:pathLst>
            </a:custGeom>
            <a:solidFill>
              <a:srgbClr val="2C3C43"/>
            </a:solidFill>
          </p:spPr>
        </p:sp>
      </p:grpSp>
      <p:grpSp>
        <p:nvGrpSpPr>
          <p:cNvPr name="Group 6" id="6"/>
          <p:cNvGrpSpPr/>
          <p:nvPr/>
        </p:nvGrpSpPr>
        <p:grpSpPr>
          <a:xfrm rot="0">
            <a:off x="0" y="1448117"/>
            <a:ext cx="1028700" cy="7810183"/>
            <a:chOff x="0" y="0"/>
            <a:chExt cx="1371600" cy="10413578"/>
          </a:xfrm>
        </p:grpSpPr>
        <p:sp>
          <p:nvSpPr>
            <p:cNvPr name="Freeform 7" id="7"/>
            <p:cNvSpPr/>
            <p:nvPr/>
          </p:nvSpPr>
          <p:spPr>
            <a:xfrm flipH="false" flipV="false" rot="0">
              <a:off x="0" y="0"/>
              <a:ext cx="1371651" cy="10413569"/>
            </a:xfrm>
            <a:custGeom>
              <a:avLst/>
              <a:gdLst/>
              <a:ahLst/>
              <a:cxnLst/>
              <a:rect r="r" b="b" t="t" l="l"/>
              <a:pathLst>
                <a:path h="10413569" w="1371651">
                  <a:moveTo>
                    <a:pt x="0" y="0"/>
                  </a:moveTo>
                  <a:lnTo>
                    <a:pt x="1371651" y="0"/>
                  </a:lnTo>
                  <a:lnTo>
                    <a:pt x="1371651" y="10413569"/>
                  </a:lnTo>
                  <a:lnTo>
                    <a:pt x="0" y="10413569"/>
                  </a:lnTo>
                  <a:close/>
                </a:path>
              </a:pathLst>
            </a:custGeom>
            <a:solidFill>
              <a:srgbClr val="90C226"/>
            </a:solidFill>
          </p:spPr>
        </p:sp>
      </p:grpSp>
      <p:grpSp>
        <p:nvGrpSpPr>
          <p:cNvPr name="Group 8" id="8"/>
          <p:cNvGrpSpPr/>
          <p:nvPr/>
        </p:nvGrpSpPr>
        <p:grpSpPr>
          <a:xfrm rot="5400000">
            <a:off x="-4066796" y="5109780"/>
            <a:ext cx="10287003" cy="96012"/>
            <a:chOff x="0" y="0"/>
            <a:chExt cx="13716004" cy="128016"/>
          </a:xfrm>
        </p:grpSpPr>
        <p:sp>
          <p:nvSpPr>
            <p:cNvPr name="Freeform 9" id="9"/>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0" id="10"/>
          <p:cNvGrpSpPr/>
          <p:nvPr/>
        </p:nvGrpSpPr>
        <p:grpSpPr>
          <a:xfrm rot="5400000">
            <a:off x="6374746" y="5095496"/>
            <a:ext cx="10287003" cy="96012"/>
            <a:chOff x="0" y="0"/>
            <a:chExt cx="13716004" cy="128016"/>
          </a:xfrm>
        </p:grpSpPr>
        <p:sp>
          <p:nvSpPr>
            <p:cNvPr name="Freeform 11" id="11"/>
            <p:cNvSpPr/>
            <p:nvPr/>
          </p:nvSpPr>
          <p:spPr>
            <a:xfrm flipH="false" flipV="false" rot="0">
              <a:off x="0" y="0"/>
              <a:ext cx="13716000" cy="128016"/>
            </a:xfrm>
            <a:custGeom>
              <a:avLst/>
              <a:gdLst/>
              <a:ahLst/>
              <a:cxnLst/>
              <a:rect r="r" b="b" t="t" l="l"/>
              <a:pathLst>
                <a:path h="128016" w="13716000">
                  <a:moveTo>
                    <a:pt x="0" y="0"/>
                  </a:moveTo>
                  <a:lnTo>
                    <a:pt x="13716000" y="0"/>
                  </a:lnTo>
                  <a:lnTo>
                    <a:pt x="13716000" y="128016"/>
                  </a:lnTo>
                  <a:lnTo>
                    <a:pt x="0" y="128016"/>
                  </a:lnTo>
                  <a:close/>
                </a:path>
              </a:pathLst>
            </a:custGeom>
            <a:solidFill>
              <a:srgbClr val="2C3C43"/>
            </a:solidFill>
          </p:spPr>
        </p:sp>
      </p:grpSp>
      <p:grpSp>
        <p:nvGrpSpPr>
          <p:cNvPr name="Group 12" id="12"/>
          <p:cNvGrpSpPr/>
          <p:nvPr/>
        </p:nvGrpSpPr>
        <p:grpSpPr>
          <a:xfrm rot="0">
            <a:off x="11534094" y="-14288"/>
            <a:ext cx="6768194" cy="10315575"/>
            <a:chOff x="0" y="0"/>
            <a:chExt cx="9024258" cy="13754100"/>
          </a:xfrm>
        </p:grpSpPr>
        <p:sp>
          <p:nvSpPr>
            <p:cNvPr name="Freeform 13" id="13"/>
            <p:cNvSpPr/>
            <p:nvPr/>
          </p:nvSpPr>
          <p:spPr>
            <a:xfrm flipH="false" flipV="false" rot="0">
              <a:off x="19050" y="19050"/>
              <a:ext cx="8986139" cy="13716000"/>
            </a:xfrm>
            <a:custGeom>
              <a:avLst/>
              <a:gdLst/>
              <a:ahLst/>
              <a:cxnLst/>
              <a:rect r="r" b="b" t="t" l="l"/>
              <a:pathLst>
                <a:path h="13716000" w="8986139">
                  <a:moveTo>
                    <a:pt x="0" y="0"/>
                  </a:moveTo>
                  <a:lnTo>
                    <a:pt x="8986139" y="0"/>
                  </a:lnTo>
                  <a:lnTo>
                    <a:pt x="8986139" y="13716000"/>
                  </a:lnTo>
                  <a:lnTo>
                    <a:pt x="0" y="13716000"/>
                  </a:lnTo>
                  <a:close/>
                </a:path>
              </a:pathLst>
            </a:custGeom>
            <a:solidFill>
              <a:srgbClr val="90C226"/>
            </a:solidFill>
          </p:spPr>
        </p:sp>
        <p:sp>
          <p:nvSpPr>
            <p:cNvPr name="Freeform 14" id="14"/>
            <p:cNvSpPr/>
            <p:nvPr/>
          </p:nvSpPr>
          <p:spPr>
            <a:xfrm flipH="false" flipV="false" rot="0">
              <a:off x="0" y="0"/>
              <a:ext cx="9024239" cy="13754100"/>
            </a:xfrm>
            <a:custGeom>
              <a:avLst/>
              <a:gdLst/>
              <a:ahLst/>
              <a:cxnLst/>
              <a:rect r="r" b="b" t="t" l="l"/>
              <a:pathLst>
                <a:path h="13754100" w="9024239">
                  <a:moveTo>
                    <a:pt x="19050" y="0"/>
                  </a:moveTo>
                  <a:lnTo>
                    <a:pt x="9005189" y="0"/>
                  </a:lnTo>
                  <a:cubicBezTo>
                    <a:pt x="9015730" y="0"/>
                    <a:pt x="9024239" y="8509"/>
                    <a:pt x="9024239" y="19050"/>
                  </a:cubicBezTo>
                  <a:lnTo>
                    <a:pt x="9024239" y="13735050"/>
                  </a:lnTo>
                  <a:cubicBezTo>
                    <a:pt x="9024239" y="13745590"/>
                    <a:pt x="9015730" y="13754100"/>
                    <a:pt x="9005189" y="13754100"/>
                  </a:cubicBezTo>
                  <a:lnTo>
                    <a:pt x="19050" y="13754100"/>
                  </a:lnTo>
                  <a:cubicBezTo>
                    <a:pt x="8509" y="13754100"/>
                    <a:pt x="0" y="13745590"/>
                    <a:pt x="0" y="13735050"/>
                  </a:cubicBezTo>
                  <a:lnTo>
                    <a:pt x="0" y="19050"/>
                  </a:lnTo>
                  <a:cubicBezTo>
                    <a:pt x="0" y="8509"/>
                    <a:pt x="8509" y="0"/>
                    <a:pt x="19050" y="0"/>
                  </a:cubicBezTo>
                  <a:moveTo>
                    <a:pt x="19050" y="38100"/>
                  </a:moveTo>
                  <a:lnTo>
                    <a:pt x="19050" y="19050"/>
                  </a:lnTo>
                  <a:lnTo>
                    <a:pt x="38100" y="19050"/>
                  </a:lnTo>
                  <a:lnTo>
                    <a:pt x="38100" y="13735050"/>
                  </a:lnTo>
                  <a:lnTo>
                    <a:pt x="19050" y="13735050"/>
                  </a:lnTo>
                  <a:lnTo>
                    <a:pt x="19050" y="13716000"/>
                  </a:lnTo>
                  <a:lnTo>
                    <a:pt x="9005189" y="13716000"/>
                  </a:lnTo>
                  <a:lnTo>
                    <a:pt x="9005189" y="13735050"/>
                  </a:lnTo>
                  <a:lnTo>
                    <a:pt x="8986139" y="13735050"/>
                  </a:lnTo>
                  <a:lnTo>
                    <a:pt x="8986139" y="19050"/>
                  </a:lnTo>
                  <a:lnTo>
                    <a:pt x="9005189" y="19050"/>
                  </a:lnTo>
                  <a:lnTo>
                    <a:pt x="9005189" y="38100"/>
                  </a:lnTo>
                  <a:lnTo>
                    <a:pt x="19050" y="38100"/>
                  </a:lnTo>
                  <a:close/>
                </a:path>
              </a:pathLst>
            </a:custGeom>
            <a:solidFill>
              <a:srgbClr val="3A500A"/>
            </a:solidFill>
          </p:spPr>
        </p:sp>
      </p:grpSp>
      <p:grpSp>
        <p:nvGrpSpPr>
          <p:cNvPr name="Group 15" id="15"/>
          <p:cNvGrpSpPr/>
          <p:nvPr/>
        </p:nvGrpSpPr>
        <p:grpSpPr>
          <a:xfrm rot="0">
            <a:off x="12325176" y="2904130"/>
            <a:ext cx="5186030" cy="4478740"/>
            <a:chOff x="0" y="0"/>
            <a:chExt cx="6914706" cy="5971654"/>
          </a:xfrm>
        </p:grpSpPr>
        <p:grpSp>
          <p:nvGrpSpPr>
            <p:cNvPr name="Group 16" id="16"/>
            <p:cNvGrpSpPr/>
            <p:nvPr/>
          </p:nvGrpSpPr>
          <p:grpSpPr>
            <a:xfrm rot="0">
              <a:off x="0" y="58906"/>
              <a:ext cx="484168" cy="484168"/>
              <a:chOff x="0" y="0"/>
              <a:chExt cx="403860" cy="403860"/>
            </a:xfrm>
          </p:grpSpPr>
          <p:sp>
            <p:nvSpPr>
              <p:cNvPr name="Freeform 17" id="1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18" id="1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19" id="19"/>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20" id="20"/>
            <p:cNvGrpSpPr/>
            <p:nvPr/>
          </p:nvGrpSpPr>
          <p:grpSpPr>
            <a:xfrm rot="0">
              <a:off x="0" y="826100"/>
              <a:ext cx="484168" cy="484168"/>
              <a:chOff x="0" y="0"/>
              <a:chExt cx="403860" cy="403860"/>
            </a:xfrm>
          </p:grpSpPr>
          <p:sp>
            <p:nvSpPr>
              <p:cNvPr name="Freeform 21" id="2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2" id="2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3" id="23"/>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24" id="24"/>
            <p:cNvGrpSpPr/>
            <p:nvPr/>
          </p:nvGrpSpPr>
          <p:grpSpPr>
            <a:xfrm rot="0">
              <a:off x="0" y="1593180"/>
              <a:ext cx="484168" cy="484168"/>
              <a:chOff x="0" y="0"/>
              <a:chExt cx="403860" cy="403860"/>
            </a:xfrm>
          </p:grpSpPr>
          <p:sp>
            <p:nvSpPr>
              <p:cNvPr name="Freeform 25" id="2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26" id="2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27" id="27"/>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28" id="28"/>
            <p:cNvGrpSpPr/>
            <p:nvPr/>
          </p:nvGrpSpPr>
          <p:grpSpPr>
            <a:xfrm rot="0">
              <a:off x="0" y="2360260"/>
              <a:ext cx="484168" cy="484168"/>
              <a:chOff x="0" y="0"/>
              <a:chExt cx="403860" cy="403860"/>
            </a:xfrm>
          </p:grpSpPr>
          <p:sp>
            <p:nvSpPr>
              <p:cNvPr name="Freeform 29" id="29"/>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0" id="30"/>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1" id="31"/>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32" id="32"/>
            <p:cNvGrpSpPr/>
            <p:nvPr/>
          </p:nvGrpSpPr>
          <p:grpSpPr>
            <a:xfrm rot="0">
              <a:off x="0" y="3127340"/>
              <a:ext cx="484168" cy="484168"/>
              <a:chOff x="0" y="0"/>
              <a:chExt cx="403860" cy="403860"/>
            </a:xfrm>
          </p:grpSpPr>
          <p:sp>
            <p:nvSpPr>
              <p:cNvPr name="Freeform 33" id="33"/>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34" id="34"/>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5" id="35"/>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36" id="36"/>
            <p:cNvGrpSpPr/>
            <p:nvPr/>
          </p:nvGrpSpPr>
          <p:grpSpPr>
            <a:xfrm rot="0">
              <a:off x="0" y="3894420"/>
              <a:ext cx="484168" cy="484168"/>
              <a:chOff x="0" y="0"/>
              <a:chExt cx="403860" cy="403860"/>
            </a:xfrm>
          </p:grpSpPr>
          <p:sp>
            <p:nvSpPr>
              <p:cNvPr name="Freeform 37" id="37"/>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8" id="38"/>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9" id="39"/>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40" id="40"/>
            <p:cNvGrpSpPr/>
            <p:nvPr/>
          </p:nvGrpSpPr>
          <p:grpSpPr>
            <a:xfrm rot="0">
              <a:off x="0" y="4661500"/>
              <a:ext cx="484168" cy="484168"/>
              <a:chOff x="0" y="0"/>
              <a:chExt cx="403860" cy="403860"/>
            </a:xfrm>
          </p:grpSpPr>
          <p:sp>
            <p:nvSpPr>
              <p:cNvPr name="Freeform 41" id="41"/>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2" id="42"/>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3" id="43"/>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44" id="44"/>
            <p:cNvGrpSpPr/>
            <p:nvPr/>
          </p:nvGrpSpPr>
          <p:grpSpPr>
            <a:xfrm rot="0">
              <a:off x="0" y="5428580"/>
              <a:ext cx="484168" cy="484168"/>
              <a:chOff x="0" y="0"/>
              <a:chExt cx="403860" cy="403860"/>
            </a:xfrm>
          </p:grpSpPr>
          <p:sp>
            <p:nvSpPr>
              <p:cNvPr name="Freeform 45" id="45"/>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6" id="46"/>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7" id="47"/>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Freeform 48" id="48"/>
          <p:cNvSpPr/>
          <p:nvPr/>
        </p:nvSpPr>
        <p:spPr>
          <a:xfrm flipH="false" flipV="false" rot="0">
            <a:off x="7284683" y="1284209"/>
            <a:ext cx="3718634" cy="7747154"/>
          </a:xfrm>
          <a:custGeom>
            <a:avLst/>
            <a:gdLst/>
            <a:ahLst/>
            <a:cxnLst/>
            <a:rect r="r" b="b" t="t" l="l"/>
            <a:pathLst>
              <a:path h="7747154" w="3718634">
                <a:moveTo>
                  <a:pt x="0" y="0"/>
                </a:moveTo>
                <a:lnTo>
                  <a:pt x="3718634" y="0"/>
                </a:lnTo>
                <a:lnTo>
                  <a:pt x="3718634" y="7747154"/>
                </a:lnTo>
                <a:lnTo>
                  <a:pt x="0" y="7747154"/>
                </a:lnTo>
                <a:lnTo>
                  <a:pt x="0" y="0"/>
                </a:lnTo>
                <a:close/>
              </a:path>
            </a:pathLst>
          </a:custGeom>
          <a:blipFill>
            <a:blip r:embed="rId3"/>
            <a:stretch>
              <a:fillRect l="0" t="0" r="0" b="0"/>
            </a:stretch>
          </a:blipFill>
        </p:spPr>
      </p:sp>
      <p:sp>
        <p:nvSpPr>
          <p:cNvPr name="TextBox 49" id="49"/>
          <p:cNvSpPr txBox="true"/>
          <p:nvPr/>
        </p:nvSpPr>
        <p:spPr>
          <a:xfrm rot="0">
            <a:off x="1477137" y="1720610"/>
            <a:ext cx="9901021" cy="923925"/>
          </a:xfrm>
          <a:prstGeom prst="rect">
            <a:avLst/>
          </a:prstGeom>
        </p:spPr>
        <p:txBody>
          <a:bodyPr anchor="t" rtlCol="false" tIns="0" lIns="0" bIns="0" rIns="0">
            <a:spAutoFit/>
          </a:bodyPr>
          <a:lstStyle/>
          <a:p>
            <a:pPr algn="l">
              <a:lnSpc>
                <a:spcPts val="7200"/>
              </a:lnSpc>
            </a:pPr>
            <a:r>
              <a:rPr lang="en-US" sz="6000" b="true">
                <a:solidFill>
                  <a:srgbClr val="FFFFFF"/>
                </a:solidFill>
                <a:latin typeface="Trebuchet MS Bold"/>
                <a:ea typeface="Trebuchet MS Bold"/>
                <a:cs typeface="Trebuchet MS Bold"/>
                <a:sym typeface="Trebuchet MS Bold"/>
              </a:rPr>
              <a:t>DESARROLLO</a:t>
            </a:r>
          </a:p>
        </p:txBody>
      </p:sp>
      <p:sp>
        <p:nvSpPr>
          <p:cNvPr name="TextBox 50" id="50"/>
          <p:cNvSpPr txBox="true"/>
          <p:nvPr/>
        </p:nvSpPr>
        <p:spPr>
          <a:xfrm rot="0">
            <a:off x="1477137" y="3297917"/>
            <a:ext cx="9598540" cy="365380"/>
          </a:xfrm>
          <a:prstGeom prst="rect">
            <a:avLst/>
          </a:prstGeom>
        </p:spPr>
        <p:txBody>
          <a:bodyPr anchor="t" rtlCol="false" tIns="0" lIns="0" bIns="0" rIns="0">
            <a:spAutoFit/>
          </a:bodyPr>
          <a:lstStyle/>
          <a:p>
            <a:pPr algn="just">
              <a:lnSpc>
                <a:spcPts val="2852"/>
              </a:lnSpc>
            </a:pPr>
            <a:r>
              <a:rPr lang="en-US" sz="2377">
                <a:solidFill>
                  <a:srgbClr val="FFFFFF"/>
                </a:solidFill>
                <a:latin typeface="Trebuchet MS"/>
                <a:ea typeface="Trebuchet MS"/>
                <a:cs typeface="Trebuchet MS"/>
                <a:sym typeface="Trebuchet MS"/>
              </a:rPr>
              <a:t>Vistas del Cliente Móvil</a:t>
            </a:r>
          </a:p>
        </p:txBody>
      </p:sp>
      <p:sp>
        <p:nvSpPr>
          <p:cNvPr name="TextBox 51" id="51"/>
          <p:cNvSpPr txBox="true"/>
          <p:nvPr/>
        </p:nvSpPr>
        <p:spPr>
          <a:xfrm rot="0">
            <a:off x="1498207" y="2631963"/>
            <a:ext cx="9598540" cy="371475"/>
          </a:xfrm>
          <a:prstGeom prst="rect">
            <a:avLst/>
          </a:prstGeom>
        </p:spPr>
        <p:txBody>
          <a:bodyPr anchor="t" rtlCol="false" tIns="0" lIns="0" bIns="0" rIns="0">
            <a:spAutoFit/>
          </a:bodyPr>
          <a:lstStyle/>
          <a:p>
            <a:pPr algn="just">
              <a:lnSpc>
                <a:spcPts val="2852"/>
              </a:lnSpc>
            </a:pPr>
            <a:r>
              <a:rPr lang="en-US" sz="2377" b="true">
                <a:solidFill>
                  <a:srgbClr val="FFFFFF"/>
                </a:solidFill>
                <a:latin typeface="Trebuchet MS Bold"/>
                <a:ea typeface="Trebuchet MS Bold"/>
                <a:cs typeface="Trebuchet MS Bold"/>
                <a:sym typeface="Trebuchet MS Bold"/>
              </a:rPr>
              <a:t>Creación del Cliente Móvil</a:t>
            </a:r>
          </a:p>
        </p:txBody>
      </p:sp>
    </p:spTree>
  </p:cSld>
  <p:clrMapOvr>
    <a:masterClrMapping/>
  </p:clrMapOvr>
</p:sld>
</file>

<file path=ppt/slides/slide5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TextBox 67" id="67"/>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CONCLUSIONES</a:t>
            </a:r>
          </a:p>
        </p:txBody>
      </p:sp>
      <p:sp>
        <p:nvSpPr>
          <p:cNvPr name="TextBox 68" id="68"/>
          <p:cNvSpPr txBox="true"/>
          <p:nvPr/>
        </p:nvSpPr>
        <p:spPr>
          <a:xfrm rot="0">
            <a:off x="6424819" y="3349320"/>
            <a:ext cx="11329859" cy="4804080"/>
          </a:xfrm>
          <a:prstGeom prst="rect">
            <a:avLst/>
          </a:prstGeom>
        </p:spPr>
        <p:txBody>
          <a:bodyPr anchor="t" rtlCol="false" tIns="0" lIns="0" bIns="0" rIns="0">
            <a:spAutoFit/>
          </a:bodyPr>
          <a:lstStyle/>
          <a:p>
            <a:pPr algn="just" marL="503433" indent="-251717" lvl="1">
              <a:lnSpc>
                <a:spcPts val="3497"/>
              </a:lnSpc>
              <a:buFont typeface="Arial"/>
              <a:buChar char="•"/>
            </a:pPr>
            <a:r>
              <a:rPr lang="en-US" sz="2331">
                <a:solidFill>
                  <a:srgbClr val="404040"/>
                </a:solidFill>
                <a:latin typeface="Trebuchet MS"/>
                <a:ea typeface="Trebuchet MS"/>
                <a:cs typeface="Trebuchet MS"/>
                <a:sym typeface="Trebuchet MS"/>
              </a:rPr>
              <a:t>Utilizar .NET para desarrollar el web service RESTful resultó ser una experiencia eficiente y práctica, gracias a sus herramientas integradas, su enfoque estructurado, y el soporte nativo para implementar servicios modernos con estándares REST.</a:t>
            </a:r>
          </a:p>
          <a:p>
            <a:pPr algn="just" marL="503433" indent="-251717" lvl="1">
              <a:lnSpc>
                <a:spcPts val="3497"/>
              </a:lnSpc>
              <a:buFont typeface="Arial"/>
              <a:buChar char="•"/>
            </a:pPr>
            <a:r>
              <a:rPr lang="en-US" sz="2331">
                <a:solidFill>
                  <a:srgbClr val="404040"/>
                </a:solidFill>
                <a:latin typeface="Trebuchet MS"/>
                <a:ea typeface="Trebuchet MS"/>
                <a:cs typeface="Trebuchet MS"/>
                <a:sym typeface="Trebuchet MS"/>
              </a:rPr>
              <a:t>Los cuatro clientes desarrollados (escritorio, consola, móvil y web) pudieron consumir el servicio de manera exitosa, demostrando la versatilidad del web service y su capacidad de adaptarse a diferentes plataformas y tecnologías.</a:t>
            </a:r>
          </a:p>
          <a:p>
            <a:pPr algn="just" marL="503433" indent="-251717" lvl="1">
              <a:lnSpc>
                <a:spcPts val="3497"/>
              </a:lnSpc>
              <a:buFont typeface="Arial"/>
              <a:buChar char="•"/>
            </a:pPr>
            <a:r>
              <a:rPr lang="en-US" sz="2331">
                <a:solidFill>
                  <a:srgbClr val="404040"/>
                </a:solidFill>
                <a:latin typeface="Trebuchet MS"/>
                <a:ea typeface="Trebuchet MS"/>
                <a:cs typeface="Trebuchet MS"/>
                <a:sym typeface="Trebuchet MS"/>
              </a:rPr>
              <a:t>Crear el servicio en .NET fue notablemente más sencillo que hacerlo en Java, ya que .NET proporciona un entorno más amigable y optimizado para la creación de servicios web, reduciendo significativamente el tiempo de desarrollo y la complejidad del proceso.</a:t>
            </a:r>
          </a:p>
        </p:txBody>
      </p:sp>
    </p:spTree>
  </p:cSld>
  <p:clrMapOvr>
    <a:masterClrMapping/>
  </p:clrMapOvr>
</p:sld>
</file>

<file path=ppt/slides/slide5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TextBox 67" id="67"/>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RECOMENDACIONES</a:t>
            </a:r>
          </a:p>
        </p:txBody>
      </p:sp>
      <p:sp>
        <p:nvSpPr>
          <p:cNvPr name="TextBox 68" id="68"/>
          <p:cNvSpPr txBox="true"/>
          <p:nvPr/>
        </p:nvSpPr>
        <p:spPr>
          <a:xfrm rot="0">
            <a:off x="6424819" y="3349320"/>
            <a:ext cx="11529406" cy="4887350"/>
          </a:xfrm>
          <a:prstGeom prst="rect">
            <a:avLst/>
          </a:prstGeom>
        </p:spPr>
        <p:txBody>
          <a:bodyPr anchor="t" rtlCol="false" tIns="0" lIns="0" bIns="0" rIns="0">
            <a:spAutoFit/>
          </a:bodyPr>
          <a:lstStyle/>
          <a:p>
            <a:pPr algn="just" marL="512300" indent="-256150" lvl="1">
              <a:lnSpc>
                <a:spcPts val="3559"/>
              </a:lnSpc>
              <a:buFont typeface="Arial"/>
              <a:buChar char="•"/>
            </a:pPr>
            <a:r>
              <a:rPr lang="en-US" sz="2372">
                <a:solidFill>
                  <a:srgbClr val="404040"/>
                </a:solidFill>
                <a:latin typeface="Trebuchet MS"/>
                <a:ea typeface="Trebuchet MS"/>
                <a:cs typeface="Trebuchet MS"/>
                <a:sym typeface="Trebuchet MS"/>
              </a:rPr>
              <a:t>Dado lo eficiente y sencillo que resultó crear el servicio web RESTful con .NET, se recomienda continuar utilizando esta tecnología para desarrollar servicios similares, explorando otras características avanzadas como autenticación integrada o soporte para GraphQL.</a:t>
            </a:r>
          </a:p>
          <a:p>
            <a:pPr algn="just" marL="512300" indent="-256150" lvl="1">
              <a:lnSpc>
                <a:spcPts val="3559"/>
              </a:lnSpc>
              <a:buFont typeface="Arial"/>
              <a:buChar char="•"/>
            </a:pPr>
            <a:r>
              <a:rPr lang="en-US" sz="2372">
                <a:solidFill>
                  <a:srgbClr val="404040"/>
                </a:solidFill>
                <a:latin typeface="Trebuchet MS"/>
                <a:ea typeface="Trebuchet MS"/>
                <a:cs typeface="Trebuchet MS"/>
                <a:sym typeface="Trebuchet MS"/>
              </a:rPr>
              <a:t>Aprovechar la flexibilidad demostrada por el servicio para ser consumido desde múltiples plataformas y lenguajes, asegurando que futuros desarrollos sigan siendo compatibles con una amplia variedad de clientes.</a:t>
            </a:r>
          </a:p>
          <a:p>
            <a:pPr algn="just" marL="512300" indent="-256150" lvl="1">
              <a:lnSpc>
                <a:spcPts val="3559"/>
              </a:lnSpc>
              <a:buFont typeface="Arial"/>
              <a:buChar char="•"/>
            </a:pPr>
            <a:r>
              <a:rPr lang="en-US" sz="2372">
                <a:solidFill>
                  <a:srgbClr val="404040"/>
                </a:solidFill>
                <a:latin typeface="Trebuchet MS"/>
                <a:ea typeface="Trebuchet MS"/>
                <a:cs typeface="Trebuchet MS"/>
                <a:sym typeface="Trebuchet MS"/>
              </a:rPr>
              <a:t>Considerar realizar un análisis de herramientas disponibles antes de iniciar un proyecto, priorizando tecnologías como .NET que simplifiquen el desarrollo sin sacrificar funcionalidad ni interoperabilidad, especialmente frente a alternativas más complejas como Java en este contexto.</a:t>
            </a:r>
          </a:p>
        </p:txBody>
      </p:sp>
    </p:spTree>
  </p:cSld>
  <p:clrMapOvr>
    <a:masterClrMapping/>
  </p:clrMapOvr>
</p:sld>
</file>

<file path=ppt/slides/slide6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4791364">
            <a:off x="9738483" y="5143500"/>
            <a:ext cx="10464870" cy="0"/>
          </a:xfrm>
          <a:prstGeom prst="line">
            <a:avLst/>
          </a:prstGeom>
          <a:ln cap="rnd" w="9525">
            <a:solidFill>
              <a:srgbClr val="FFFFFF"/>
            </a:solidFill>
            <a:prstDash val="solid"/>
            <a:headEnd type="none" len="sm" w="sm"/>
            <a:tailEnd type="none" len="sm" w="sm"/>
          </a:ln>
        </p:spPr>
      </p:sp>
      <p:sp>
        <p:nvSpPr>
          <p:cNvPr name="AutoShape 3" id="3"/>
          <p:cNvSpPr/>
          <p:nvPr/>
        </p:nvSpPr>
        <p:spPr>
          <a:xfrm rot="8776573">
            <a:off x="10406482" y="7904560"/>
            <a:ext cx="8608175" cy="0"/>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29804"/>
              </a:srgbClr>
            </a:solidFill>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19608"/>
              </a:srgbClr>
            </a:solidFill>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71765"/>
              </a:srgbClr>
            </a:solidFill>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69804"/>
              </a:srgbClr>
            </a:solidFill>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C0E474">
                <a:alpha val="69804"/>
              </a:srgbClr>
            </a:solidFill>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90C226">
                <a:alpha val="64706"/>
              </a:srgbClr>
            </a:solidFill>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80000"/>
              </a:srgbClr>
            </a:solidFill>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84706"/>
              </a:srgbClr>
            </a:solidFill>
          </p:spPr>
        </p:sp>
      </p:grpSp>
      <p:grpSp>
        <p:nvGrpSpPr>
          <p:cNvPr name="Group 20" id="20"/>
          <p:cNvGrpSpPr/>
          <p:nvPr/>
        </p:nvGrpSpPr>
        <p:grpSpPr>
          <a:xfrm rot="0">
            <a:off x="0" y="0"/>
            <a:ext cx="6024282" cy="1584813"/>
            <a:chOff x="0" y="0"/>
            <a:chExt cx="8032376" cy="2113084"/>
          </a:xfrm>
        </p:grpSpPr>
        <p:sp>
          <p:nvSpPr>
            <p:cNvPr name="Freeform 21" id="21"/>
            <p:cNvSpPr/>
            <p:nvPr/>
          </p:nvSpPr>
          <p:spPr>
            <a:xfrm flipH="false" flipV="false" rot="0">
              <a:off x="0" y="0"/>
              <a:ext cx="8032369" cy="2113026"/>
            </a:xfrm>
            <a:custGeom>
              <a:avLst/>
              <a:gdLst/>
              <a:ahLst/>
              <a:cxnLst/>
              <a:rect r="r" b="b" t="t" l="l"/>
              <a:pathLst>
                <a:path h="2113026" w="8032369">
                  <a:moveTo>
                    <a:pt x="0" y="0"/>
                  </a:moveTo>
                  <a:lnTo>
                    <a:pt x="8032369" y="0"/>
                  </a:lnTo>
                  <a:lnTo>
                    <a:pt x="8032369" y="2113026"/>
                  </a:lnTo>
                  <a:lnTo>
                    <a:pt x="0" y="2113026"/>
                  </a:lnTo>
                  <a:close/>
                </a:path>
              </a:pathLst>
            </a:custGeom>
            <a:solidFill>
              <a:srgbClr val="90C226"/>
            </a:solidFill>
          </p:spPr>
        </p:sp>
      </p:grpSp>
      <p:grpSp>
        <p:nvGrpSpPr>
          <p:cNvPr name="Group 22" id="22"/>
          <p:cNvGrpSpPr/>
          <p:nvPr/>
        </p:nvGrpSpPr>
        <p:grpSpPr>
          <a:xfrm rot="0">
            <a:off x="2288" y="1547250"/>
            <a:ext cx="18283426" cy="96012"/>
            <a:chOff x="0" y="0"/>
            <a:chExt cx="24377902" cy="128016"/>
          </a:xfrm>
        </p:grpSpPr>
        <p:sp>
          <p:nvSpPr>
            <p:cNvPr name="Freeform 23" id="23"/>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24" id="24"/>
          <p:cNvGrpSpPr/>
          <p:nvPr/>
        </p:nvGrpSpPr>
        <p:grpSpPr>
          <a:xfrm rot="0">
            <a:off x="5982777" y="1643262"/>
            <a:ext cx="12305223" cy="7525339"/>
            <a:chOff x="0" y="0"/>
            <a:chExt cx="16406964" cy="10033786"/>
          </a:xfrm>
        </p:grpSpPr>
        <p:sp>
          <p:nvSpPr>
            <p:cNvPr name="Freeform 25" id="25"/>
            <p:cNvSpPr/>
            <p:nvPr/>
          </p:nvSpPr>
          <p:spPr>
            <a:xfrm flipH="false" flipV="false" rot="0">
              <a:off x="0" y="0"/>
              <a:ext cx="16407003" cy="10033762"/>
            </a:xfrm>
            <a:custGeom>
              <a:avLst/>
              <a:gdLst/>
              <a:ahLst/>
              <a:cxnLst/>
              <a:rect r="r" b="b" t="t" l="l"/>
              <a:pathLst>
                <a:path h="10033762" w="16407003">
                  <a:moveTo>
                    <a:pt x="0" y="0"/>
                  </a:moveTo>
                  <a:lnTo>
                    <a:pt x="16407003" y="0"/>
                  </a:lnTo>
                  <a:lnTo>
                    <a:pt x="16407003" y="10033762"/>
                  </a:lnTo>
                  <a:lnTo>
                    <a:pt x="0" y="10033762"/>
                  </a:lnTo>
                  <a:close/>
                </a:path>
              </a:pathLst>
            </a:custGeom>
            <a:solidFill>
              <a:srgbClr val="FFFFFF">
                <a:alpha val="74902"/>
              </a:srgbClr>
            </a:solidFill>
          </p:spPr>
        </p:sp>
      </p:grpSp>
      <p:grpSp>
        <p:nvGrpSpPr>
          <p:cNvPr name="Group 26" id="26"/>
          <p:cNvGrpSpPr/>
          <p:nvPr/>
        </p:nvGrpSpPr>
        <p:grpSpPr>
          <a:xfrm rot="0">
            <a:off x="6062869" y="9216608"/>
            <a:ext cx="12225130" cy="1070392"/>
            <a:chOff x="0" y="0"/>
            <a:chExt cx="16300174" cy="1427190"/>
          </a:xfrm>
        </p:grpSpPr>
        <p:sp>
          <p:nvSpPr>
            <p:cNvPr name="Freeform 27" id="27"/>
            <p:cNvSpPr/>
            <p:nvPr/>
          </p:nvSpPr>
          <p:spPr>
            <a:xfrm flipH="false" flipV="false" rot="0">
              <a:off x="0" y="0"/>
              <a:ext cx="16300196" cy="1427226"/>
            </a:xfrm>
            <a:custGeom>
              <a:avLst/>
              <a:gdLst/>
              <a:ahLst/>
              <a:cxnLst/>
              <a:rect r="r" b="b" t="t" l="l"/>
              <a:pathLst>
                <a:path h="1427226" w="16300196">
                  <a:moveTo>
                    <a:pt x="0" y="0"/>
                  </a:moveTo>
                  <a:lnTo>
                    <a:pt x="16300196" y="0"/>
                  </a:lnTo>
                  <a:lnTo>
                    <a:pt x="16300196" y="1427226"/>
                  </a:lnTo>
                  <a:lnTo>
                    <a:pt x="0" y="1427226"/>
                  </a:lnTo>
                  <a:close/>
                </a:path>
              </a:pathLst>
            </a:custGeom>
            <a:solidFill>
              <a:srgbClr val="90C226"/>
            </a:solidFill>
          </p:spPr>
        </p:sp>
      </p:grpSp>
      <p:grpSp>
        <p:nvGrpSpPr>
          <p:cNvPr name="Group 28" id="28"/>
          <p:cNvGrpSpPr/>
          <p:nvPr/>
        </p:nvGrpSpPr>
        <p:grpSpPr>
          <a:xfrm rot="0">
            <a:off x="0" y="9251422"/>
            <a:ext cx="5973627" cy="1035578"/>
            <a:chOff x="0" y="0"/>
            <a:chExt cx="7964836" cy="1380770"/>
          </a:xfrm>
        </p:grpSpPr>
        <p:sp>
          <p:nvSpPr>
            <p:cNvPr name="Freeform 29" id="29"/>
            <p:cNvSpPr/>
            <p:nvPr/>
          </p:nvSpPr>
          <p:spPr>
            <a:xfrm flipH="false" flipV="false" rot="0">
              <a:off x="0" y="0"/>
              <a:ext cx="7964805" cy="1380744"/>
            </a:xfrm>
            <a:custGeom>
              <a:avLst/>
              <a:gdLst/>
              <a:ahLst/>
              <a:cxnLst/>
              <a:rect r="r" b="b" t="t" l="l"/>
              <a:pathLst>
                <a:path h="1380744" w="7964805">
                  <a:moveTo>
                    <a:pt x="0" y="0"/>
                  </a:moveTo>
                  <a:lnTo>
                    <a:pt x="7964805" y="0"/>
                  </a:lnTo>
                  <a:lnTo>
                    <a:pt x="7964805" y="1380744"/>
                  </a:lnTo>
                  <a:lnTo>
                    <a:pt x="0" y="1380744"/>
                  </a:lnTo>
                  <a:close/>
                </a:path>
              </a:pathLst>
            </a:custGeom>
            <a:solidFill>
              <a:srgbClr val="FFFFFF">
                <a:alpha val="74902"/>
              </a:srgbClr>
            </a:solidFill>
          </p:spPr>
        </p:sp>
      </p:grpSp>
      <p:grpSp>
        <p:nvGrpSpPr>
          <p:cNvPr name="Group 30" id="30"/>
          <p:cNvGrpSpPr/>
          <p:nvPr/>
        </p:nvGrpSpPr>
        <p:grpSpPr>
          <a:xfrm rot="0">
            <a:off x="2288" y="9168602"/>
            <a:ext cx="18283426" cy="96012"/>
            <a:chOff x="0" y="0"/>
            <a:chExt cx="24377902" cy="128016"/>
          </a:xfrm>
        </p:grpSpPr>
        <p:sp>
          <p:nvSpPr>
            <p:cNvPr name="Freeform 31" id="31"/>
            <p:cNvSpPr/>
            <p:nvPr/>
          </p:nvSpPr>
          <p:spPr>
            <a:xfrm flipH="false" flipV="false" rot="0">
              <a:off x="0" y="0"/>
              <a:ext cx="24377904" cy="128016"/>
            </a:xfrm>
            <a:custGeom>
              <a:avLst/>
              <a:gdLst/>
              <a:ahLst/>
              <a:cxnLst/>
              <a:rect r="r" b="b" t="t" l="l"/>
              <a:pathLst>
                <a:path h="128016" w="24377904">
                  <a:moveTo>
                    <a:pt x="0" y="0"/>
                  </a:moveTo>
                  <a:lnTo>
                    <a:pt x="24377904" y="0"/>
                  </a:lnTo>
                  <a:lnTo>
                    <a:pt x="24377904" y="128016"/>
                  </a:lnTo>
                  <a:lnTo>
                    <a:pt x="0" y="128016"/>
                  </a:lnTo>
                  <a:close/>
                </a:path>
              </a:pathLst>
            </a:custGeom>
            <a:solidFill>
              <a:srgbClr val="2C3C43"/>
            </a:solidFill>
          </p:spPr>
        </p:sp>
      </p:grpSp>
      <p:grpSp>
        <p:nvGrpSpPr>
          <p:cNvPr name="Group 32" id="32"/>
          <p:cNvGrpSpPr/>
          <p:nvPr/>
        </p:nvGrpSpPr>
        <p:grpSpPr>
          <a:xfrm rot="0">
            <a:off x="5966857" y="241301"/>
            <a:ext cx="96012" cy="10287000"/>
            <a:chOff x="0" y="0"/>
            <a:chExt cx="128016" cy="13716000"/>
          </a:xfrm>
        </p:grpSpPr>
        <p:sp>
          <p:nvSpPr>
            <p:cNvPr name="Freeform 33" id="33"/>
            <p:cNvSpPr/>
            <p:nvPr/>
          </p:nvSpPr>
          <p:spPr>
            <a:xfrm flipH="false" flipV="false" rot="0">
              <a:off x="0" y="0"/>
              <a:ext cx="128016" cy="13716000"/>
            </a:xfrm>
            <a:custGeom>
              <a:avLst/>
              <a:gdLst/>
              <a:ahLst/>
              <a:cxnLst/>
              <a:rect r="r" b="b" t="t" l="l"/>
              <a:pathLst>
                <a:path h="13716000" w="128016">
                  <a:moveTo>
                    <a:pt x="0" y="0"/>
                  </a:moveTo>
                  <a:lnTo>
                    <a:pt x="128016" y="0"/>
                  </a:lnTo>
                  <a:lnTo>
                    <a:pt x="128016" y="13716000"/>
                  </a:lnTo>
                  <a:lnTo>
                    <a:pt x="0" y="13716000"/>
                  </a:lnTo>
                  <a:close/>
                </a:path>
              </a:pathLst>
            </a:custGeom>
            <a:solidFill>
              <a:srgbClr val="2C3C43"/>
            </a:solidFill>
          </p:spPr>
        </p:sp>
      </p:grpSp>
      <p:grpSp>
        <p:nvGrpSpPr>
          <p:cNvPr name="Group 34" id="34"/>
          <p:cNvGrpSpPr/>
          <p:nvPr/>
        </p:nvGrpSpPr>
        <p:grpSpPr>
          <a:xfrm rot="0">
            <a:off x="419126" y="3145430"/>
            <a:ext cx="5186030" cy="4478740"/>
            <a:chOff x="0" y="0"/>
            <a:chExt cx="6914706" cy="5971654"/>
          </a:xfrm>
        </p:grpSpPr>
        <p:grpSp>
          <p:nvGrpSpPr>
            <p:cNvPr name="Group 35" id="35"/>
            <p:cNvGrpSpPr/>
            <p:nvPr/>
          </p:nvGrpSpPr>
          <p:grpSpPr>
            <a:xfrm rot="0">
              <a:off x="0" y="58906"/>
              <a:ext cx="484168" cy="484168"/>
              <a:chOff x="0" y="0"/>
              <a:chExt cx="403860" cy="403860"/>
            </a:xfrm>
          </p:grpSpPr>
          <p:sp>
            <p:nvSpPr>
              <p:cNvPr name="Freeform 36" id="3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37" id="3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38" id="38"/>
            <p:cNvSpPr txBox="true"/>
            <p:nvPr/>
          </p:nvSpPr>
          <p:spPr>
            <a:xfrm rot="0">
              <a:off x="657143" y="-76200"/>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strike="noStrike" u="none">
                  <a:solidFill>
                    <a:srgbClr val="404040"/>
                  </a:solidFill>
                  <a:latin typeface="Trebuchet MS"/>
                  <a:ea typeface="Trebuchet MS"/>
                  <a:cs typeface="Trebuchet MS"/>
                  <a:sym typeface="Trebuchet MS"/>
                </a:rPr>
                <a:t>INTRODUCIÓN</a:t>
              </a:r>
            </a:p>
          </p:txBody>
        </p:sp>
        <p:grpSp>
          <p:nvGrpSpPr>
            <p:cNvPr name="Group 39" id="39"/>
            <p:cNvGrpSpPr/>
            <p:nvPr/>
          </p:nvGrpSpPr>
          <p:grpSpPr>
            <a:xfrm rot="0">
              <a:off x="0" y="826100"/>
              <a:ext cx="484168" cy="484168"/>
              <a:chOff x="0" y="0"/>
              <a:chExt cx="403860" cy="403860"/>
            </a:xfrm>
          </p:grpSpPr>
          <p:sp>
            <p:nvSpPr>
              <p:cNvPr name="Freeform 40" id="4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1" id="4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2" id="42"/>
            <p:cNvSpPr txBox="true"/>
            <p:nvPr/>
          </p:nvSpPr>
          <p:spPr>
            <a:xfrm rot="0">
              <a:off x="657143" y="69099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OBJETIVOS</a:t>
              </a:r>
            </a:p>
          </p:txBody>
        </p:sp>
        <p:grpSp>
          <p:nvGrpSpPr>
            <p:cNvPr name="Group 43" id="43"/>
            <p:cNvGrpSpPr/>
            <p:nvPr/>
          </p:nvGrpSpPr>
          <p:grpSpPr>
            <a:xfrm rot="0">
              <a:off x="0" y="1593180"/>
              <a:ext cx="484168" cy="484168"/>
              <a:chOff x="0" y="0"/>
              <a:chExt cx="403860" cy="403860"/>
            </a:xfrm>
          </p:grpSpPr>
          <p:sp>
            <p:nvSpPr>
              <p:cNvPr name="Freeform 44" id="4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5" id="4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46" id="46"/>
            <p:cNvSpPr txBox="true"/>
            <p:nvPr/>
          </p:nvSpPr>
          <p:spPr>
            <a:xfrm rot="0">
              <a:off x="657143" y="1458074"/>
              <a:ext cx="3854839"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MARCO TEÓRICO</a:t>
              </a:r>
            </a:p>
          </p:txBody>
        </p:sp>
        <p:grpSp>
          <p:nvGrpSpPr>
            <p:cNvPr name="Group 47" id="47"/>
            <p:cNvGrpSpPr/>
            <p:nvPr/>
          </p:nvGrpSpPr>
          <p:grpSpPr>
            <a:xfrm rot="0">
              <a:off x="0" y="2360260"/>
              <a:ext cx="484168" cy="484168"/>
              <a:chOff x="0" y="0"/>
              <a:chExt cx="403860" cy="403860"/>
            </a:xfrm>
          </p:grpSpPr>
          <p:sp>
            <p:nvSpPr>
              <p:cNvPr name="Freeform 48" id="48"/>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49" id="49"/>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0" id="50"/>
            <p:cNvSpPr txBox="true"/>
            <p:nvPr/>
          </p:nvSpPr>
          <p:spPr>
            <a:xfrm rot="0">
              <a:off x="657143" y="2225154"/>
              <a:ext cx="6257563"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DESCRIPCIÓN DEL TRABAJO</a:t>
              </a:r>
            </a:p>
          </p:txBody>
        </p:sp>
        <p:grpSp>
          <p:nvGrpSpPr>
            <p:cNvPr name="Group 51" id="51"/>
            <p:cNvGrpSpPr/>
            <p:nvPr/>
          </p:nvGrpSpPr>
          <p:grpSpPr>
            <a:xfrm rot="0">
              <a:off x="0" y="3127340"/>
              <a:ext cx="484168" cy="484168"/>
              <a:chOff x="0" y="0"/>
              <a:chExt cx="403860" cy="403860"/>
            </a:xfrm>
          </p:grpSpPr>
          <p:sp>
            <p:nvSpPr>
              <p:cNvPr name="Freeform 52" id="52"/>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3" id="53"/>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4" id="54"/>
            <p:cNvSpPr txBox="true"/>
            <p:nvPr/>
          </p:nvSpPr>
          <p:spPr>
            <a:xfrm rot="0">
              <a:off x="657143" y="299223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DESARROLLO</a:t>
              </a:r>
            </a:p>
          </p:txBody>
        </p:sp>
        <p:grpSp>
          <p:nvGrpSpPr>
            <p:cNvPr name="Group 55" id="55"/>
            <p:cNvGrpSpPr/>
            <p:nvPr/>
          </p:nvGrpSpPr>
          <p:grpSpPr>
            <a:xfrm rot="0">
              <a:off x="0" y="3894420"/>
              <a:ext cx="484168" cy="484168"/>
              <a:chOff x="0" y="0"/>
              <a:chExt cx="403860" cy="403860"/>
            </a:xfrm>
          </p:grpSpPr>
          <p:sp>
            <p:nvSpPr>
              <p:cNvPr name="Freeform 56" id="56"/>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57" id="57"/>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58" id="58"/>
            <p:cNvSpPr txBox="true"/>
            <p:nvPr/>
          </p:nvSpPr>
          <p:spPr>
            <a:xfrm rot="0">
              <a:off x="657143" y="3700408"/>
              <a:ext cx="36337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CONCLUSIONES</a:t>
              </a:r>
            </a:p>
          </p:txBody>
        </p:sp>
        <p:grpSp>
          <p:nvGrpSpPr>
            <p:cNvPr name="Group 59" id="59"/>
            <p:cNvGrpSpPr/>
            <p:nvPr/>
          </p:nvGrpSpPr>
          <p:grpSpPr>
            <a:xfrm rot="0">
              <a:off x="0" y="4661500"/>
              <a:ext cx="484168" cy="484168"/>
              <a:chOff x="0" y="0"/>
              <a:chExt cx="403860" cy="403860"/>
            </a:xfrm>
          </p:grpSpPr>
          <p:sp>
            <p:nvSpPr>
              <p:cNvPr name="Freeform 60" id="60"/>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F7819"/>
              </a:solidFill>
            </p:spPr>
          </p:sp>
          <p:sp>
            <p:nvSpPr>
              <p:cNvPr name="Freeform 61" id="61"/>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2" id="62"/>
            <p:cNvSpPr txBox="true"/>
            <p:nvPr/>
          </p:nvSpPr>
          <p:spPr>
            <a:xfrm rot="0">
              <a:off x="657143" y="4526394"/>
              <a:ext cx="4583141"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RECOMENDACIONES</a:t>
              </a:r>
            </a:p>
          </p:txBody>
        </p:sp>
        <p:grpSp>
          <p:nvGrpSpPr>
            <p:cNvPr name="Group 63" id="63"/>
            <p:cNvGrpSpPr/>
            <p:nvPr/>
          </p:nvGrpSpPr>
          <p:grpSpPr>
            <a:xfrm rot="0">
              <a:off x="0" y="5428580"/>
              <a:ext cx="484168" cy="484168"/>
              <a:chOff x="0" y="0"/>
              <a:chExt cx="403860" cy="403860"/>
            </a:xfrm>
          </p:grpSpPr>
          <p:sp>
            <p:nvSpPr>
              <p:cNvPr name="Freeform 64" id="64"/>
              <p:cNvSpPr/>
              <p:nvPr/>
            </p:nvSpPr>
            <p:spPr>
              <a:xfrm flipH="false" flipV="false" rot="0">
                <a:off x="19050" y="1905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2C3C43"/>
              </a:solidFill>
            </p:spPr>
          </p:sp>
          <p:sp>
            <p:nvSpPr>
              <p:cNvPr name="Freeform 65" id="65"/>
              <p:cNvSpPr/>
              <p:nvPr/>
            </p:nvSpPr>
            <p:spPr>
              <a:xfrm flipH="false" flipV="false" rot="0">
                <a:off x="0" y="0"/>
                <a:ext cx="403860" cy="403860"/>
              </a:xfrm>
              <a:custGeom>
                <a:avLst/>
                <a:gdLst/>
                <a:ahLst/>
                <a:cxnLst/>
                <a:rect r="r" b="b" t="t" l="l"/>
                <a:pathLst>
                  <a:path h="403860" w="403860">
                    <a:moveTo>
                      <a:pt x="19050" y="0"/>
                    </a:moveTo>
                    <a:lnTo>
                      <a:pt x="384810" y="0"/>
                    </a:lnTo>
                    <a:cubicBezTo>
                      <a:pt x="395351" y="0"/>
                      <a:pt x="403860" y="8509"/>
                      <a:pt x="403860" y="19050"/>
                    </a:cubicBezTo>
                    <a:lnTo>
                      <a:pt x="403860" y="384810"/>
                    </a:lnTo>
                    <a:cubicBezTo>
                      <a:pt x="403860" y="395351"/>
                      <a:pt x="395351" y="403860"/>
                      <a:pt x="384810" y="403860"/>
                    </a:cubicBezTo>
                    <a:lnTo>
                      <a:pt x="19050" y="403860"/>
                    </a:lnTo>
                    <a:cubicBezTo>
                      <a:pt x="8509" y="403860"/>
                      <a:pt x="0" y="395351"/>
                      <a:pt x="0" y="384810"/>
                    </a:cubicBezTo>
                    <a:lnTo>
                      <a:pt x="0" y="19050"/>
                    </a:lnTo>
                    <a:cubicBezTo>
                      <a:pt x="0" y="8509"/>
                      <a:pt x="8509" y="0"/>
                      <a:pt x="19050" y="0"/>
                    </a:cubicBezTo>
                    <a:moveTo>
                      <a:pt x="19050" y="38100"/>
                    </a:moveTo>
                    <a:lnTo>
                      <a:pt x="19050" y="19050"/>
                    </a:lnTo>
                    <a:lnTo>
                      <a:pt x="38100" y="19050"/>
                    </a:lnTo>
                    <a:lnTo>
                      <a:pt x="38100" y="384810"/>
                    </a:lnTo>
                    <a:lnTo>
                      <a:pt x="19050" y="384810"/>
                    </a:lnTo>
                    <a:lnTo>
                      <a:pt x="19050" y="365760"/>
                    </a:lnTo>
                    <a:lnTo>
                      <a:pt x="384810" y="365760"/>
                    </a:lnTo>
                    <a:lnTo>
                      <a:pt x="384810" y="384810"/>
                    </a:lnTo>
                    <a:lnTo>
                      <a:pt x="365760" y="384810"/>
                    </a:lnTo>
                    <a:lnTo>
                      <a:pt x="365760" y="19050"/>
                    </a:lnTo>
                    <a:lnTo>
                      <a:pt x="384810" y="19050"/>
                    </a:lnTo>
                    <a:lnTo>
                      <a:pt x="384810" y="38100"/>
                    </a:lnTo>
                    <a:lnTo>
                      <a:pt x="19050" y="38100"/>
                    </a:lnTo>
                    <a:close/>
                  </a:path>
                </a:pathLst>
              </a:custGeom>
              <a:solidFill>
                <a:srgbClr val="3A500A"/>
              </a:solidFill>
            </p:spPr>
          </p:sp>
        </p:grpSp>
        <p:sp>
          <p:nvSpPr>
            <p:cNvPr name="TextBox 66" id="66"/>
            <p:cNvSpPr txBox="true"/>
            <p:nvPr/>
          </p:nvSpPr>
          <p:spPr>
            <a:xfrm rot="0">
              <a:off x="657143" y="5293474"/>
              <a:ext cx="3151188" cy="678180"/>
            </a:xfrm>
            <a:prstGeom prst="rect">
              <a:avLst/>
            </a:prstGeom>
          </p:spPr>
          <p:txBody>
            <a:bodyPr anchor="t" rtlCol="false" tIns="0" lIns="0" bIns="0" rIns="0">
              <a:spAutoFit/>
            </a:bodyPr>
            <a:lstStyle/>
            <a:p>
              <a:pPr algn="l" marL="0" indent="0" lvl="0">
                <a:lnSpc>
                  <a:spcPts val="4320"/>
                </a:lnSpc>
                <a:spcBef>
                  <a:spcPct val="0"/>
                </a:spcBef>
              </a:pPr>
              <a:r>
                <a:rPr lang="en-US" sz="3000">
                  <a:solidFill>
                    <a:srgbClr val="404040"/>
                  </a:solidFill>
                  <a:latin typeface="Trebuchet MS"/>
                  <a:ea typeface="Trebuchet MS"/>
                  <a:cs typeface="Trebuchet MS"/>
                  <a:sym typeface="Trebuchet MS"/>
                </a:rPr>
                <a:t>BIBLIOGRAFÍA</a:t>
              </a:r>
            </a:p>
          </p:txBody>
        </p:sp>
      </p:grpSp>
      <p:sp>
        <p:nvSpPr>
          <p:cNvPr name="TextBox 67" id="67"/>
          <p:cNvSpPr txBox="true"/>
          <p:nvPr/>
        </p:nvSpPr>
        <p:spPr>
          <a:xfrm rot="0">
            <a:off x="6851199" y="1925240"/>
            <a:ext cx="10380975" cy="733425"/>
          </a:xfrm>
          <a:prstGeom prst="rect">
            <a:avLst/>
          </a:prstGeom>
        </p:spPr>
        <p:txBody>
          <a:bodyPr anchor="t" rtlCol="false" tIns="0" lIns="0" bIns="0" rIns="0">
            <a:spAutoFit/>
          </a:bodyPr>
          <a:lstStyle/>
          <a:p>
            <a:pPr algn="l">
              <a:lnSpc>
                <a:spcPts val="5759"/>
              </a:lnSpc>
            </a:pPr>
            <a:r>
              <a:rPr lang="en-US" sz="4800" b="true">
                <a:solidFill>
                  <a:srgbClr val="90C226"/>
                </a:solidFill>
                <a:latin typeface="Trebuchet MS Bold"/>
                <a:ea typeface="Trebuchet MS Bold"/>
                <a:cs typeface="Trebuchet MS Bold"/>
                <a:sym typeface="Trebuchet MS Bold"/>
              </a:rPr>
              <a:t>BIBLIOGRAFÍA</a:t>
            </a:r>
          </a:p>
        </p:txBody>
      </p:sp>
      <p:sp>
        <p:nvSpPr>
          <p:cNvPr name="TextBox 68" id="68"/>
          <p:cNvSpPr txBox="true"/>
          <p:nvPr/>
        </p:nvSpPr>
        <p:spPr>
          <a:xfrm rot="0">
            <a:off x="6273678" y="3270578"/>
            <a:ext cx="11723420" cy="4882822"/>
          </a:xfrm>
          <a:prstGeom prst="rect">
            <a:avLst/>
          </a:prstGeom>
        </p:spPr>
        <p:txBody>
          <a:bodyPr anchor="t" rtlCol="false" tIns="0" lIns="0" bIns="0" rIns="0">
            <a:spAutoFit/>
          </a:bodyPr>
          <a:lstStyle/>
          <a:p>
            <a:pPr algn="just" marL="468433" indent="-234216" lvl="1">
              <a:lnSpc>
                <a:spcPts val="3254"/>
              </a:lnSpc>
              <a:buFont typeface="Arial"/>
              <a:buChar char="•"/>
            </a:pPr>
            <a:r>
              <a:rPr lang="en-US" sz="2169">
                <a:solidFill>
                  <a:srgbClr val="404040"/>
                </a:solidFill>
                <a:latin typeface="Trebuchet MS"/>
                <a:ea typeface="Trebuchet MS"/>
                <a:cs typeface="Trebuchet MS"/>
                <a:sym typeface="Trebuchet MS"/>
              </a:rPr>
              <a:t>Rick-Anderson. (2024, 19 marzo). Crear API RESTful con ASP.NET Web API - ASP.NET 4.x. Microsoft Learn. https://learn.microsoft.com/es-es/aspnet/web-api/overview/older-versions/build-restful-apis-with-aspnet-web-api</a:t>
            </a:r>
          </a:p>
          <a:p>
            <a:pPr algn="just" marL="468433" indent="-234216" lvl="1">
              <a:lnSpc>
                <a:spcPts val="3254"/>
              </a:lnSpc>
              <a:buFont typeface="Arial"/>
              <a:buChar char="•"/>
            </a:pPr>
            <a:r>
              <a:rPr lang="en-US" sz="2169">
                <a:solidFill>
                  <a:srgbClr val="404040"/>
                </a:solidFill>
                <a:latin typeface="Trebuchet MS"/>
                <a:ea typeface="Trebuchet MS"/>
                <a:cs typeface="Trebuchet MS"/>
                <a:sym typeface="Trebuchet MS"/>
              </a:rPr>
              <a:t>ASP.NET web de APIs | Rest APIs con .NET y C#. (s. f.). Microsoft. https://dotnet.microsoft.com/es-es/apps/aspnet/apis</a:t>
            </a:r>
          </a:p>
          <a:p>
            <a:pPr algn="just" marL="468433" indent="-234216" lvl="1">
              <a:lnSpc>
                <a:spcPts val="3254"/>
              </a:lnSpc>
              <a:buFont typeface="Arial"/>
              <a:buChar char="•"/>
            </a:pPr>
            <a:r>
              <a:rPr lang="en-US" sz="2169">
                <a:solidFill>
                  <a:srgbClr val="404040"/>
                </a:solidFill>
                <a:latin typeface="Trebuchet MS"/>
                <a:ea typeface="Trebuchet MS"/>
                <a:cs typeface="Trebuchet MS"/>
                <a:sym typeface="Trebuchet MS"/>
              </a:rPr>
              <a:t>What is REST?: REST API Tutorial. (2023, 11 diciembre). REST API Tutorial. https://restfulapi.net/</a:t>
            </a:r>
          </a:p>
          <a:p>
            <a:pPr algn="just" marL="468433" indent="-234216" lvl="1">
              <a:lnSpc>
                <a:spcPts val="3254"/>
              </a:lnSpc>
              <a:buFont typeface="Arial"/>
              <a:buChar char="•"/>
            </a:pPr>
            <a:r>
              <a:rPr lang="en-US" sz="2169">
                <a:solidFill>
                  <a:srgbClr val="404040"/>
                </a:solidFill>
                <a:latin typeface="Trebuchet MS"/>
                <a:ea typeface="Trebuchet MS"/>
                <a:cs typeface="Trebuchet MS"/>
                <a:sym typeface="Trebuchet MS"/>
              </a:rPr>
              <a:t>Singh, C. (2023, 2 diciembre). Build a RESTful Web API using .NET 8 - Chandrashekhar Singh - Medium. Medium. https://medium.com/@chandrashekharsingh25/build-a-restful-web-api-with-net-8-44fc93b36618</a:t>
            </a:r>
          </a:p>
          <a:p>
            <a:pPr algn="just" marL="468433" indent="-234216" lvl="1">
              <a:lnSpc>
                <a:spcPts val="3254"/>
              </a:lnSpc>
              <a:buFont typeface="Arial"/>
              <a:buChar char="•"/>
            </a:pPr>
            <a:r>
              <a:rPr lang="en-US" sz="2169">
                <a:solidFill>
                  <a:srgbClr val="404040"/>
                </a:solidFill>
                <a:latin typeface="Trebuchet MS"/>
                <a:ea typeface="Trebuchet MS"/>
                <a:cs typeface="Trebuchet MS"/>
                <a:sym typeface="Trebuchet MS"/>
              </a:rPr>
              <a:t>Mehta, T. (2024, 28 junio). How to build RESTful APIs with ASP.NET Core 8. DEV Community. https://dev.to/wirefuture/how-to-build-restful-apis-with-aspnet-core-8-j5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DAGYz_Ec404</dc:identifier>
  <dcterms:modified xsi:type="dcterms:W3CDTF">2011-08-01T06:04:30Z</dcterms:modified>
  <cp:revision>1</cp:revision>
  <dc:title>EUREKABANK_SOAP_JAVA_2648</dc:title>
</cp:coreProperties>
</file>