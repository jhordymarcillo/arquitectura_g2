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8" r:id="rId25"/>
    <p:sldId id="279" r:id="rId26"/>
    <p:sldId id="280" r:id="rId27"/>
    <p:sldId id="281" r:id="rId28"/>
    <p:sldId id="275" r:id="rId18"/>
    <p:sldId id="277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1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aptura1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aptura2.png"/><Relationship Id="rId3" Type="http://schemas.openxmlformats.org/officeDocument/2006/relationships/image" Target="../media/captura3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aptura4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aptura5.png"/><Relationship Id="rId3" Type="http://schemas.openxmlformats.org/officeDocument/2006/relationships/image" Target="../media/captura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/>
          <p:cNvSpPr/>
          <p:nvPr/>
        </p:nvSpPr>
        <p:spPr>
          <a:xfrm>
            <a:off x="0" y="3238500"/>
            <a:ext cx="18288000" cy="35623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6"/>
          <p:cNvSpPr/>
          <p:nvPr/>
        </p:nvSpPr>
        <p:spPr>
          <a:xfrm>
            <a:off x="762000" y="3493770"/>
            <a:ext cx="1621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CONVERSIÓN DE UNIDADES</a:t>
            </a:r>
            <a:endParaRPr lang="en-US" sz="5400" dirty="0"/>
          </a:p>
        </p:txBody>
      </p:sp>
      <p:sp>
        <p:nvSpPr>
          <p:cNvPr id="11" name="Text 7"/>
          <p:cNvSpPr/>
          <p:nvPr/>
        </p:nvSpPr>
        <p:spPr>
          <a:xfrm>
            <a:off x="762000" y="4472940"/>
            <a:ext cx="17266920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50" kern="0" spc="127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RESTFUL EN JAVA / JAKARTA EE — SIN BASE DE DATOS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62000" y="6858000"/>
            <a:ext cx="909720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— GRUPO 02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62000" y="7250430"/>
            <a:ext cx="909720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Caceres · David Cepeda · Jhordy Marcillo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0165735" y="6858000"/>
            <a:ext cx="75810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/ FECHA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0165735" y="7250430"/>
            <a:ext cx="758107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Tutor: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Eduardo M. Campaña O.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 err="1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10 / 2026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17" name="Google Shape;102;p1" descr="Resultado de imagen para espe">
            <a:extLst>
              <a:ext uri="{FF2B5EF4-FFF2-40B4-BE49-F238E27FC236}">
                <a16:creationId xmlns:a16="http://schemas.microsoft.com/office/drawing/2014/main" id="{CE086591-E514-D4D4-3EB2-DC21224142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31837"/>
            <a:ext cx="13927540" cy="21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24260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GENERAL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1055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00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469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Aplicativo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293751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Servidor RESTful (JAX-RS)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0600" y="326898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Consola Java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90600" y="360045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Escritorio Swing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90600" y="393192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Web JSP + Servlets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0600" y="426339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Móvil Android / Kotlin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3400" y="459486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90600" y="463677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33400" y="502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90600" y="506730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3400" y="545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90600" y="5497830"/>
            <a:ext cx="266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vamos 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cubrir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8" name="Text 26"/>
          <p:cNvSpPr/>
          <p:nvPr/>
        </p:nvSpPr>
        <p:spPr>
          <a:xfrm>
            <a:off x="5143500" y="2125980"/>
            <a:ext cx="12753975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RESTful en Java (Jakarta EE 10 / JAX-RS) desplegado en Payara expone operaciones de conversión de unidades de temperatura, longitud y peso sin necesidad de base de datos. Cuatro clientes en plataformas distintas consumen la misma API JSON sobre HTTP.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5143500" y="3571875"/>
            <a:ext cx="1894582" cy="449580"/>
          </a:xfrm>
          <a:prstGeom prst="roundRect">
            <a:avLst>
              <a:gd name="adj" fmla="val 50000"/>
            </a:avLst>
          </a:prstGeom>
          <a:solidFill>
            <a:srgbClr val="1A3260"/>
          </a:solidFill>
          <a:ln w="19050">
            <a:solidFill>
              <a:srgbClr val="1A32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0" y="3686175"/>
            <a:ext cx="158978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JAX-RS · EE 10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152382" y="3571875"/>
            <a:ext cx="1957864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882" y="3686175"/>
            <a:ext cx="165306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/ HTTP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224546" y="3571875"/>
            <a:ext cx="973946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5046" y="3686175"/>
            <a:ext cx="66914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312791" y="3571875"/>
            <a:ext cx="1249323" cy="449580"/>
          </a:xfrm>
          <a:prstGeom prst="roundRect">
            <a:avLst>
              <a:gd name="adj" fmla="val 50000"/>
            </a:avLst>
          </a:prstGeom>
          <a:ln w="19050">
            <a:solidFill>
              <a:srgbClr val="4295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03291" y="3686175"/>
            <a:ext cx="94452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1676415" y="3571875"/>
            <a:ext cx="1143000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866915" y="3686175"/>
            <a:ext cx="8382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BDD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143500" y="9772650"/>
            <a:ext cx="427196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ÍNDICE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1055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00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985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84048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RESTful en memoria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Text 21"/>
          <p:cNvSpPr/>
          <p:nvPr/>
        </p:nvSpPr>
        <p:spPr>
          <a:xfrm>
            <a:off x="5143500" y="2125980"/>
            <a:ext cx="12753975" cy="1367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presente trabajo describe el diseño e implementación de un Web Service RESTful en Java que expone operaciones de conversión de unidades físicas: temperatura, longitud y peso/masa. El servicio se desarrolló con JAX-RS (Jersey) sobre Jakarta EE 10, se empaqueta como WAR con Maven y se despliega en Payara Server.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43500" y="3608070"/>
            <a:ext cx="12753975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característica central del proyecto es que opera completamente en memoria, sin requerir ningún motor de base de datos; toda la lógica reside en clases Java dentro del servidor. Los recursos se publican bajo /api e intercambian JSON mediante los verbos HTTP GET y POST.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43500" y="4758690"/>
            <a:ext cx="12753975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clientes implementados (consola Java, escritorio Swing, web JSP/Servlets y móvil Android/Kotlin) consumen la API mediante Jersey Client, HttpURLConnection o Retrofit2, y leen la URL del servidor desde una única variable de configuración.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43500" y="9772650"/>
            <a:ext cx="540504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01 INTRODUCCIÓN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1293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120979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207645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45364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2785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82702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3215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325755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6461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68808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407670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411861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450723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600" y="454914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2.1 GENERAL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125980"/>
            <a:ext cx="12382500" cy="2323148"/>
          </a:xfrm>
          <a:prstGeom prst="roundRect">
            <a:avLst>
              <a:gd name="adj" fmla="val 2460"/>
            </a:avLst>
          </a:prstGeom>
          <a:solidFill>
            <a:srgbClr val="1A3260"/>
          </a:solidFill>
          <a:ln/>
        </p:spPr>
      </p:sp>
      <p:sp>
        <p:nvSpPr>
          <p:cNvPr id="26" name="Text 24"/>
          <p:cNvSpPr/>
          <p:nvPr/>
        </p:nvSpPr>
        <p:spPr>
          <a:xfrm>
            <a:off x="5638800" y="2583180"/>
            <a:ext cx="11733657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un Web Service RESTful en Java (JAX-RS) desplegado en Payara que provea operaciones de conversión de unidades físicas a múltiples tipos de clientes, sin necesidad de persistencia en base de datos.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5143500" y="4753928"/>
            <a:ext cx="1074745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0" y="4868228"/>
            <a:ext cx="769945" cy="2590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32545" y="4753928"/>
            <a:ext cx="973946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3045" y="4868228"/>
            <a:ext cx="66914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420791" y="4753928"/>
            <a:ext cx="1957864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1291" y="4868228"/>
            <a:ext cx="165306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/ HTTP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492954" y="4753928"/>
            <a:ext cx="1926431" cy="449580"/>
          </a:xfrm>
          <a:prstGeom prst="roundRect">
            <a:avLst>
              <a:gd name="adj" fmla="val 50000"/>
            </a:avLst>
          </a:prstGeom>
          <a:ln w="19050">
            <a:solidFill>
              <a:srgbClr val="4295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83454" y="4868228"/>
            <a:ext cx="16216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1533686" y="4753928"/>
            <a:ext cx="1354931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24186" y="4868228"/>
            <a:ext cx="10501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143500" y="9772650"/>
            <a:ext cx="50073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02 OBJETIVOS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1293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120979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207645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40792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2785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82702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3215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325755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6461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68808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407670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411861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450723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600" y="454914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2.2 ESPECÍFICOS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Específicos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20218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37642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2021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2202180"/>
            <a:ext cx="76200" cy="15697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355" y="220218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48300" y="241935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8300" y="266700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REST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8300" y="306705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los recursos /auth y /conversion con las anotaciones @Path, @GET, @POST, @Produces y @Consumes.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9525" y="220218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37642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9525" y="22021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9525" y="2202180"/>
            <a:ext cx="76200" cy="156972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7" name="Shape 35"/>
          <p:cNvSpPr/>
          <p:nvPr/>
        </p:nvSpPr>
        <p:spPr>
          <a:xfrm>
            <a:off x="17518380" y="220218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8" name="Text 36"/>
          <p:cNvSpPr/>
          <p:nvPr/>
        </p:nvSpPr>
        <p:spPr>
          <a:xfrm>
            <a:off x="11744325" y="241935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44325" y="266700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sin BDD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44325" y="306705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la conversión y la autenticación en clases Java (ConversionService, AuthController) sin acceso a base de datos.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143500" y="398145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55435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3" name="Shape 41"/>
          <p:cNvSpPr/>
          <p:nvPr/>
        </p:nvSpPr>
        <p:spPr>
          <a:xfrm>
            <a:off x="5143500" y="39814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4" name="Shape 42"/>
          <p:cNvSpPr/>
          <p:nvPr/>
        </p:nvSpPr>
        <p:spPr>
          <a:xfrm>
            <a:off x="5143500" y="3981450"/>
            <a:ext cx="76200" cy="156972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22355" y="398145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6" name="Text 44"/>
          <p:cNvSpPr/>
          <p:nvPr/>
        </p:nvSpPr>
        <p:spPr>
          <a:xfrm>
            <a:off x="5448300" y="419862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48300" y="444627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en Payara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448300" y="484632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Empaquetar el servicio como WAR con Maven y desplegarlo en Payara bajo /CONUNI_RESTFUL_JAVA_GR02/api.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1439525" y="398145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1439525" y="55435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1" name="Shape 49"/>
          <p:cNvSpPr/>
          <p:nvPr/>
        </p:nvSpPr>
        <p:spPr>
          <a:xfrm>
            <a:off x="11439525" y="39814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39525" y="3981450"/>
            <a:ext cx="76200" cy="15697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53" name="Shape 51"/>
          <p:cNvSpPr/>
          <p:nvPr/>
        </p:nvSpPr>
        <p:spPr>
          <a:xfrm>
            <a:off x="17518380" y="398145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4" name="Text 52"/>
          <p:cNvSpPr/>
          <p:nvPr/>
        </p:nvSpPr>
        <p:spPr>
          <a:xfrm>
            <a:off x="11744325" y="419862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744325" y="444627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 Java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1744325" y="4846320"/>
            <a:ext cx="5711819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Consumir la API REST con Jersey Client y una URL base configurable en config.properties.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143500" y="576072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143500" y="73228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9" name="Shape 57"/>
          <p:cNvSpPr/>
          <p:nvPr/>
        </p:nvSpPr>
        <p:spPr>
          <a:xfrm>
            <a:off x="5143500" y="57607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0" name="Shape 58"/>
          <p:cNvSpPr/>
          <p:nvPr/>
        </p:nvSpPr>
        <p:spPr>
          <a:xfrm>
            <a:off x="5143500" y="5760720"/>
            <a:ext cx="76200" cy="156972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61" name="Shape 59"/>
          <p:cNvSpPr/>
          <p:nvPr/>
        </p:nvSpPr>
        <p:spPr>
          <a:xfrm>
            <a:off x="11222355" y="576072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2" name="Text 60"/>
          <p:cNvSpPr/>
          <p:nvPr/>
        </p:nvSpPr>
        <p:spPr>
          <a:xfrm>
            <a:off x="5448300" y="597789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2.2.5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48300" y="622554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Swing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448300" y="662559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cliente de escritorio con VentanaLogin, VentanaPrincipal y paneles de conversión en Java Swing.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11439525" y="576072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1439525" y="73228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7" name="Shape 65"/>
          <p:cNvSpPr/>
          <p:nvPr/>
        </p:nvSpPr>
        <p:spPr>
          <a:xfrm>
            <a:off x="11439525" y="57607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8" name="Shape 66"/>
          <p:cNvSpPr/>
          <p:nvPr/>
        </p:nvSpPr>
        <p:spPr>
          <a:xfrm>
            <a:off x="11439525" y="5760720"/>
            <a:ext cx="76200" cy="156972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69" name="Shape 67"/>
          <p:cNvSpPr/>
          <p:nvPr/>
        </p:nvSpPr>
        <p:spPr>
          <a:xfrm>
            <a:off x="17518380" y="576072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70" name="Text 68"/>
          <p:cNvSpPr/>
          <p:nvPr/>
        </p:nvSpPr>
        <p:spPr>
          <a:xfrm>
            <a:off x="11744325" y="597789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2.2.6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1744325" y="622554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Móvil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1744325" y="6625590"/>
            <a:ext cx="5711819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cliente web con Servlets + JSP y el cliente Android/Kotlin con Retrofit2.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5143500" y="9772650"/>
            <a:ext cx="50073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02 OBJETIVOS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60382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2255401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2035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Client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078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Servlets + JSP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73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280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MVC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JAX-RS y Payara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143500" y="2202180"/>
            <a:ext cx="6038850" cy="208788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428244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220218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4" name="Shape 22"/>
          <p:cNvSpPr/>
          <p:nvPr/>
        </p:nvSpPr>
        <p:spPr>
          <a:xfrm>
            <a:off x="5143500" y="2202180"/>
            <a:ext cx="76200" cy="20878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74730" y="2202180"/>
            <a:ext cx="9525" cy="208788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2438400"/>
            <a:ext cx="55842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2686050"/>
            <a:ext cx="55842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y JAX-RS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086100"/>
            <a:ext cx="558427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arquitectónico basado en recursos identificados por URI y manipulados con verbos HTTP. JAX-RS (Jakarta RESTful Web Services) define el contrato con anotaciones: @Path, @GET, @POST, @Produces y @Consumes; Jersey es su implementación de referencia.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1487150" y="2202180"/>
            <a:ext cx="6038850" cy="208788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87150" y="428244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87150" y="220218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87150" y="2202180"/>
            <a:ext cx="76200" cy="208788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18380" y="2202180"/>
            <a:ext cx="9525" cy="208788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4" name="Text 32"/>
          <p:cNvSpPr/>
          <p:nvPr/>
        </p:nvSpPr>
        <p:spPr>
          <a:xfrm>
            <a:off x="11830050" y="2438400"/>
            <a:ext cx="55842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830050" y="2686050"/>
            <a:ext cx="55842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y Jakarta EE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830050" y="3086100"/>
            <a:ext cx="558427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 es un servidor de aplicaciones Jakarta EE. La clase ApplicationConfig, anotada con @ApplicationPath("/api"), activa JAX-RS y el WAR se publica bajo su propio context root.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143500" y="4518660"/>
            <a:ext cx="1275397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API publicada en http://host:8080/CONUNI_RESTFUL_JAVA_GR02/api intercambia JSON, de modo que cualquier cliente con HTTP — independientemente de la plataforma — puede consumirla sin generar proxies.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03 MARCO TEÓRICO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57221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87225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076450"/>
            <a:ext cx="242256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Client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06980"/>
            <a:ext cx="234535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Servlets + JSP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73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280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MVC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HTTP — sin proxy generado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23660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0" y="2842260"/>
            <a:ext cx="6220016" cy="1253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 SOAP, no hay WSDL ni proxies: los clientes Java usan Jersey Client (API cliente de JAX-RS) y serializan los modelos a JSON con JSON-B.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143500" y="4210050"/>
            <a:ext cx="6220016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WebTarget arma la URL del recurso a partir de la URL base configurable: cada llamada remota es una petición HTTP con cuerpo JSON.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487150" y="2842260"/>
            <a:ext cx="6038850" cy="3899535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1734800" y="3051810"/>
            <a:ext cx="5724716" cy="351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Servidor: recurso JAX-RS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@Path("/conversion")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ConversionController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@POST @Path("/convertir")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Response convertir(ConversionRequest r) { …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Cliente: Jersey Client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WebTarget t = ClientBuilder.newClient()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.target(baseUrl).path("/conversion/convertir");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ConversionResponse res = t.request(MediaType.APPLICATION_JSON)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.post(Entity.json(req), ConversionResponse.class);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143500" y="7008495"/>
            <a:ext cx="6086475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881062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700849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7008495"/>
            <a:ext cx="76200" cy="18097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355" y="7008495"/>
            <a:ext cx="9525" cy="180975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48300" y="7225665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8300" y="7473315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Servlets + JSP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8300" y="7873365"/>
            <a:ext cx="5711819" cy="765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LoginServlet y ControladorWeb (HttpServlet) actúan como proxy hacia la API REST mediante ClienteConversionRESTFUL; las vistas JSP muestran los resultados y la sesión HTTP mantiene la autenticación.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9525" y="7008495"/>
            <a:ext cx="6086475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881062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9525" y="700849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9525" y="7008495"/>
            <a:ext cx="76200" cy="180975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37" name="Shape 35"/>
          <p:cNvSpPr/>
          <p:nvPr/>
        </p:nvSpPr>
        <p:spPr>
          <a:xfrm>
            <a:off x="17518380" y="7008495"/>
            <a:ext cx="9525" cy="180975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8" name="Text 36"/>
          <p:cNvSpPr/>
          <p:nvPr/>
        </p:nvSpPr>
        <p:spPr>
          <a:xfrm>
            <a:off x="11744325" y="7225665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44325" y="7473315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sin Persistencia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44325" y="7873365"/>
            <a:ext cx="5711819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(Request/Response), Controlador (orquesta las llamadas REST), Vista (consola, Swing, JSP, Fragments). Sin lógica de negocio en la vista.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03 MARCO TEÓRICO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57221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87225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2035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Client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078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Servlets + JSP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37510"/>
            <a:ext cx="20919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68040"/>
            <a:ext cx="1603891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 — VISTA GLOBAL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ecosistema REST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9563100" y="3802380"/>
            <a:ext cx="3543300" cy="1554480"/>
          </a:xfrm>
          <a:prstGeom prst="roundRect">
            <a:avLst>
              <a:gd name="adj" fmla="val 4902"/>
            </a:avLst>
          </a:prstGeom>
          <a:solidFill>
            <a:srgbClr val="1A3260"/>
          </a:solidFill>
          <a:ln/>
        </p:spPr>
      </p:sp>
      <p:sp>
        <p:nvSpPr>
          <p:cNvPr id="22" name="Text 20"/>
          <p:cNvSpPr/>
          <p:nvPr/>
        </p:nvSpPr>
        <p:spPr>
          <a:xfrm>
            <a:off x="9863138" y="4030980"/>
            <a:ext cx="29432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315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REST · PAYARA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63138" y="4278630"/>
            <a:ext cx="294322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JAX-RS API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863138" y="4758690"/>
            <a:ext cx="2943225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· :8080/…/api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63138" y="4972050"/>
            <a:ext cx="2943225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In-memory · sin BDD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24500" y="241173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76900" y="256413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76900" y="279273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Java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76900" y="305562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Client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24500" y="624840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6900" y="640080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76900" y="662940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Swing · Java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76900" y="689229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Jersey Client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989671" y="2411730"/>
            <a:ext cx="2155329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142071" y="2564130"/>
            <a:ext cx="1850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5142071" y="2792730"/>
            <a:ext cx="185052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Servlets + JSP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5142071" y="3055620"/>
            <a:ext cx="1850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HttpURLConnection · proxy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144750" y="624840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297150" y="640080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5297150" y="662940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5297150" y="689229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Retrofit2 + Gson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669" y="1941586"/>
            <a:ext cx="13981563" cy="6022827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5143500" y="7631430"/>
            <a:ext cx="12753975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Retrofit2 declara la API como una interfaz Kotlin con anotaciones @POST y Gson convierte el JSON en data classes; las llamadas se ejecutan con corrutinas (suspend) sin bloquear la interfaz.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03 MARCO TEÓRICO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96879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64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8418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Swing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183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3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 — 4.1 SERVIDOR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09650"/>
            <a:ext cx="1275397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CONUNI_RESTFUL_JAVA_GR02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23660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766060"/>
            <a:ext cx="12753975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Maven (WAR, Jakarta EE 10) desplegado en Payara. Toda la lógica de conversión y autenticación reside en clases Java en memoria.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3500" y="3657600"/>
            <a:ext cx="6038850" cy="6553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143500" y="430530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365760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3657600"/>
            <a:ext cx="76200" cy="6553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74730" y="3657600"/>
            <a:ext cx="9525" cy="6553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5" name="Text 23"/>
          <p:cNvSpPr/>
          <p:nvPr/>
        </p:nvSpPr>
        <p:spPr>
          <a:xfrm>
            <a:off x="5429250" y="3836670"/>
            <a:ext cx="570200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505450" y="4408170"/>
            <a:ext cx="585806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Crear proyecto: Maven Web Application (Jakarta EE 10)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5450" y="523875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Configurar estructura del proyecto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05450" y="574929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ApplicationConfig — @ApplicationPath("/api")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05450" y="625983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AuthController — POST /auth/login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05450" y="677037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ConversionService + ConversionController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05450" y="728091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CorsFilter y modelos JSON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5450" y="779145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Desplegar en Payara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87150" y="3657600"/>
            <a:ext cx="6038850" cy="2506980"/>
          </a:xfrm>
          <a:prstGeom prst="roundRect">
            <a:avLst>
              <a:gd name="adj" fmla="val 3040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11715750" y="3848100"/>
            <a:ext cx="5762816" cy="216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CONUNI_RESTFUL_JAVA_GR02/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   ← Jakarta EE 10 · WAR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src/main/java/ec/edu/monster/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configuracion/ApplicationConfig ← /api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controlador/AuthController   ← /auth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controlador/ConversionController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servicios/ · modelo/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143500" y="9772650"/>
            <a:ext cx="68279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04 DESARROLLO · 4.1 SERVIDOR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96879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592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Recursos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02311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5458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ApplicationConfig + Payara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7960"/>
            <a:ext cx="164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65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58490"/>
            <a:ext cx="18418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Swing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47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89020"/>
            <a:ext cx="183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77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19550"/>
            <a:ext cx="13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4.1.3 — RECURSOS DEL SERVICIO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09650"/>
            <a:ext cx="12753975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ConversionController + endpoints expuestos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440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20265"/>
            <a:ext cx="6038850" cy="6092190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29815"/>
            <a:ext cx="5724716" cy="351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@Path("/conversion")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@Produces(MediaType.APPLICATION_JSON)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@Consumes(MediaType.APPLICATION_JSON)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ConversionController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 @Path("/convertir")      // JSON genérico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 convertir(ConversionRequest r)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@GET @Path("/temperatura/celsius-to-fahrenheit")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 celsiusAFahrenheit(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@QueryParam("celsius") double c)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+ info, endpoints, Kelvin…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87150" y="2196465"/>
            <a:ext cx="2247900" cy="53721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87150" y="272605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11658600" y="2329815"/>
            <a:ext cx="1981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3735050" y="2196465"/>
            <a:ext cx="3790950" cy="53721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35050" y="272605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13906500" y="2329815"/>
            <a:ext cx="3561779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REST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487150" y="366331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11658600" y="2867025"/>
            <a:ext cx="198120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35050" y="366331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13906500" y="2867025"/>
            <a:ext cx="356177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/conversion/convertir · GET /conversion/temperatura/celsius-to-fahrenheit (y demás pares °C · °F · K)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487150" y="3670935"/>
            <a:ext cx="6038850" cy="93726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7150" y="460057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11658600" y="3804285"/>
            <a:ext cx="198120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3735050" y="460057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13906500" y="3804285"/>
            <a:ext cx="356177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/conversion/convertir — metros ↔ pies · metros ↔ pulgadas · kilómetros ↔ millas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1487150" y="531685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11658600" y="4741545"/>
            <a:ext cx="19812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/ Masa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3735050" y="531685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13906500" y="4741545"/>
            <a:ext cx="356177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/conversion/convertir — kilogramos ↔ libras · gramos ↔ onzas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487150" y="5324475"/>
            <a:ext cx="6038850" cy="54102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4" name="Shape 42"/>
          <p:cNvSpPr/>
          <p:nvPr/>
        </p:nvSpPr>
        <p:spPr>
          <a:xfrm>
            <a:off x="11487150" y="585787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11658600" y="5457825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3735050" y="585787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13906500" y="5457825"/>
            <a:ext cx="35617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/auth/login { usuario, contrasena } → { autenticado, mensaje }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1487150" y="5869305"/>
            <a:ext cx="622001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1 · Endpoints del servicio RESTful de conversión.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143500" y="9772650"/>
            <a:ext cx="52085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4.1.3 CONTRATO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7083"/>
            <a:ext cx="169690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25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Recursos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1974850"/>
            <a:ext cx="30746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537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ApplicationConfig + Payara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4150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15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49600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Swing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369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75050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624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00500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4.1.4 / 4.1.5 — LÓGICA DEL SERVIDOR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13883"/>
            <a:ext cx="12753975" cy="47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+ ConversionService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2533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01585"/>
            <a:ext cx="6038850" cy="6632982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11135"/>
            <a:ext cx="5724716" cy="351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@Path("/auth")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AuthController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final String USUARIO_VALIDO = "MONSTER";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final String CONTRASENA_VALIDA = "MONSTER9";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 @Path("/login")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Response login(LoginRequest c)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ok = USUARIO_VALIDO.equals(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c.getUsuario().trim().toUpperCase())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&amp;&amp; CONTRASENA_VALIDA.equals(c.getContrasena().trim());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ok ? Response.ok(new LoginResponse(true, …)).build()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: Response.status(401).build();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14734" y="8866915"/>
            <a:ext cx="6220016" cy="701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centralizadas en el servidor — los clientes nunca las conocen.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87150" y="2101585"/>
            <a:ext cx="6038850" cy="6837699"/>
          </a:xfrm>
          <a:prstGeom prst="roundRect">
            <a:avLst>
              <a:gd name="adj" fmla="val 1641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11734800" y="2311135"/>
            <a:ext cx="5724716" cy="426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ConversionService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celsiusAFahrenheit(double c)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(c * 9.0 / 5.0) + 32.0;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metrosAPies(double m)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 * 3.28084;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kilogramosALibras(double k)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k * 2.20462;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848816" y="9032643"/>
            <a:ext cx="6220016" cy="369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operaciones — temperatura · longitud · peso/masa.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43500" y="9766300"/>
            <a:ext cx="49695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4.1 SERVIDOR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7083"/>
            <a:ext cx="169690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25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Recursos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1974850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07167"/>
            <a:ext cx="30746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ApplicationConfig + Payara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4150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15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49600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Swing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369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75050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624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00500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4.1.6 / 4.1.7 — CONFIGURACIÓN Y DESPLIEGUE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13883"/>
            <a:ext cx="12753975" cy="503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ApplicationConfig + Desplegar en Payara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5073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26985"/>
            <a:ext cx="6038850" cy="7855216"/>
          </a:xfrm>
          <a:prstGeom prst="roundRect">
            <a:avLst>
              <a:gd name="adj" fmla="val 1837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36535"/>
            <a:ext cx="5724716" cy="769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@ApplicationPath("/api")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ApplicationConfig extends Application {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pom.xml --&gt;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&lt;packaging&gt;war&lt;/packaging&gt;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&lt;finalName&gt;CONUNI_RESTFUL_JAVA_GR02&lt;/finalName&gt;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&lt;groupId&gt;jakarta.platform&lt;/groupId&gt;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&lt;artifactId&gt;jakarta.jakartaee-api&lt;/artifactId&gt;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&lt;version&gt;10.0.0&lt;/version&gt;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&lt;scope&gt;provided&lt;/scope&gt;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87150" y="2126985"/>
            <a:ext cx="6038850" cy="3185451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87150" y="530397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87150" y="2126985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87150" y="2126985"/>
            <a:ext cx="76200" cy="3185451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7517533" y="2126985"/>
            <a:ext cx="9525" cy="318545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9" name="Text 27"/>
          <p:cNvSpPr/>
          <p:nvPr/>
        </p:nvSpPr>
        <p:spPr>
          <a:xfrm>
            <a:off x="11772900" y="2383102"/>
            <a:ext cx="570113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Desplegar en Payara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134850" y="2846652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mvn clean package → WAR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134850" y="3357166"/>
            <a:ext cx="5339186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asadmin deploy · iniciar_servidor.ps1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34850" y="4187693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8080 · Payara domain1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34850" y="4698206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Firewall: abrir el puerto 8080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487150" y="5483887"/>
            <a:ext cx="6038850" cy="1672696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7150" y="7148116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87150" y="5483887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87150" y="5483887"/>
            <a:ext cx="76200" cy="16726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38" name="Shape 36"/>
          <p:cNvSpPr/>
          <p:nvPr/>
        </p:nvSpPr>
        <p:spPr>
          <a:xfrm>
            <a:off x="17517533" y="5483887"/>
            <a:ext cx="9525" cy="1672696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9" name="Text 37"/>
          <p:cNvSpPr/>
          <p:nvPr/>
        </p:nvSpPr>
        <p:spPr>
          <a:xfrm>
            <a:off x="11772900" y="5682853"/>
            <a:ext cx="57011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— API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772900" y="5930503"/>
            <a:ext cx="570113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accesibles desde el navegador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1772900" y="6277637"/>
            <a:ext cx="5535084" cy="679979"/>
          </a:xfrm>
          <a:prstGeom prst="roundRect">
            <a:avLst>
              <a:gd name="adj" fmla="val 11206"/>
            </a:avLst>
          </a:prstGeom>
          <a:solidFill>
            <a:srgbClr val="0B1220"/>
          </a:solidFill>
          <a:ln/>
        </p:spPr>
      </p:sp>
      <p:sp>
        <p:nvSpPr>
          <p:cNvPr id="42" name="Text 40"/>
          <p:cNvSpPr/>
          <p:nvPr/>
        </p:nvSpPr>
        <p:spPr>
          <a:xfrm>
            <a:off x="11925300" y="6410987"/>
            <a:ext cx="5396336" cy="451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http://localhost:8080/CONUNI_RESTFUL_JAVA_GR02/api/conversion/info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http://&lt;IP-del-servidor&gt;:8080/CONUNI_RESTFUL_JAVA_GR02/api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IP real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43500" y="9766300"/>
            <a:ext cx="49695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4.1 SERVIDOR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2533"/>
            <a:ext cx="19751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Swing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— CLIENTE DE CONSOLA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Java · Jersey Client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130160"/>
            <a:ext cx="12753975" cy="709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Java 17 (Maven) con arquitectura MVC. Jersey Client consume la API REST y la URL base se lee de config.properties (una sola variable).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3500" y="3030140"/>
            <a:ext cx="5643496" cy="5126699"/>
          </a:xfrm>
          <a:prstGeom prst="roundRect">
            <a:avLst>
              <a:gd name="adj" fmla="val 1987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5372100" y="3220641"/>
            <a:ext cx="5355601" cy="349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CONUNI_RESTFUL_JAVA_CLICON_G09/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              ← Jersey Client + JSON-B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src/main/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resources/config.properties ← api.base.url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java/ec/edu/monster/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controlador/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├── Autenticador.java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└── ClienteController.java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servicios/ConversionService.java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vista/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├── ClienteConsolaREST.java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│   └── VistaLogin.java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prueba/ClientePrincipal.java ← main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091796" y="3030141"/>
            <a:ext cx="6434204" cy="6528726"/>
          </a:xfrm>
          <a:prstGeom prst="roundRect">
            <a:avLst>
              <a:gd name="adj" fmla="val 1482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11339446" y="3239691"/>
            <a:ext cx="6131930" cy="674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ConversionService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WebTarget base;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ConversionService()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url = cargarUrlDesdeConfiguracion();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= ClientBuilder.newClient()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.target(url).path("/conversion");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GET /conversion/temperatura/celsius-to-fahrenheit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WebTarget t = base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.path("/temperatura/celsius-to-fahrenheit")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.queryParam("celsius", valor);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r = t.request(MediaType.APPLICATION_JSON).get();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143500" y="9766300"/>
            <a:ext cx="58282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4.2 CLIENTE CONSOLA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067983"/>
            <a:ext cx="22010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Swing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— CLIENTE DE ESCRITORIO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Swing · paleta Monsters Inc.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206360"/>
            <a:ext cx="6220016" cy="104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Java Swing con VentanaLogin, VentanaPrincipal y paneles intercambiables (PanelTemperatura, PanelLongitud, PanelPeso) sobre una base común PanelConversionBase.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98930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21A9DA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0" y="4352197"/>
            <a:ext cx="110146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· #21A9DA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2580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F6697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2111" y="4352197"/>
            <a:ext cx="1091605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 · #F66971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64384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F5D880"/>
          </a:solidFill>
          <a:ln/>
        </p:spPr>
      </p:sp>
      <p:sp>
        <p:nvSpPr>
          <p:cNvPr id="25" name="Text 23"/>
          <p:cNvSpPr/>
          <p:nvPr/>
        </p:nvSpPr>
        <p:spPr>
          <a:xfrm>
            <a:off x="7450865" y="4352197"/>
            <a:ext cx="1417704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· #F5D880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50284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8C6BCD"/>
          </a:solidFill>
          <a:ln/>
        </p:spPr>
      </p:sp>
      <p:sp>
        <p:nvSpPr>
          <p:cNvPr id="27" name="Text 25"/>
          <p:cNvSpPr/>
          <p:nvPr/>
        </p:nvSpPr>
        <p:spPr>
          <a:xfrm>
            <a:off x="8925719" y="4352197"/>
            <a:ext cx="143973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PÚRPURA · #8C6BCD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43500" y="4699331"/>
            <a:ext cx="6220016" cy="31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 </a:t>
            </a:r>
            <a:r>
              <a:rPr lang="en-US" sz="15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intentos máximos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 éxito →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487150" y="2206360"/>
            <a:ext cx="6038850" cy="7852040"/>
          </a:xfrm>
          <a:prstGeom prst="roundRect">
            <a:avLst>
              <a:gd name="adj" fmla="val 1482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11734800" y="2415910"/>
            <a:ext cx="5724716" cy="47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ConversionApiClient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WebTarget base;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ConversionApiClient()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= ClientBuilder.newClient()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.target(urlBase()).path("/conversion");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ConversionResponse ejecutarConversion(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op, double valor, String categoria)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ConversionRequest req = crearRequest(op, valor, categoria);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r = base.path("/convertir")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.request(MediaType.APPLICATION_JSON)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.post(Entity.entity(req, MediaType.APPLICATION_JSON));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r.readEntity(ConversionResponse.class);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143500" y="9766300"/>
            <a:ext cx="60926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4.3 CLIENTE ESCRITORIO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Swing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493433"/>
            <a:ext cx="21234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— CLIENTE WEB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Servlets + JSP · Sesión HTTP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143500" y="2206360"/>
            <a:ext cx="6038850" cy="6893190"/>
          </a:xfrm>
          <a:prstGeom prst="roundRect">
            <a:avLst>
              <a:gd name="adj" fmla="val 1641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5391150" y="2415910"/>
            <a:ext cx="5724716" cy="426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LoginServlet.java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@WebServlet(name = "LoginServlet", urlPatterns = {"/login"})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LoginServlet extends HttpServlet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final String AUTH_URL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ConfiguracionCliente.getBaseUrl() + "/auth/login";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void doPost(HttpServletRequest req,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HttpServletResponse resp)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POST {usuario, contrasena} → API REST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si es válido: sesión "usuario" y redirige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              a la página de conversiones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487150" y="2206360"/>
            <a:ext cx="6038850" cy="6637389"/>
          </a:xfrm>
          <a:prstGeom prst="roundRect">
            <a:avLst>
              <a:gd name="adj" fmla="val 1557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11734800" y="2415910"/>
            <a:ext cx="5724716" cy="451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ControladorWeb.java — proxy hacia la API REST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@WebServlet(urlPatterns = {"/ControladorWeb", "/convertir"})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ControladorWeb extends HttpServlet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void doPost(HttpServletRequest req,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HttpServletResponse resp)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(req.getParameter("accion"))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"login":     // valida contra /auth/login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"logout":    // invalida la sesión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"convertir": // ClienteConversionRESTFUL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// → POST /conversion/convertir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32210" y="9113759"/>
            <a:ext cx="12753975" cy="594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LoginServlet guarda el atributo de sesión "usuario" al validar contra la API REST, e index.jsp verifica la sesión antes de mostrar las conversiones; el navegador nunca llama directamente a la API.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43500" y="9766300"/>
            <a:ext cx="53091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4.4 CLIENTE WEB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REST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Swing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JSP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18883"/>
            <a:ext cx="164782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— CLIENTE MÓVIL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 con Retrofit2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505450" y="2377810"/>
            <a:ext cx="585806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·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· Kotlin DSL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05450" y="2888324"/>
            <a:ext cx="585806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Component + Fragments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5450" y="3398838"/>
            <a:ext cx="5858066" cy="36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Retrofit2 + Gson consumen la API JSON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5450" y="3913584"/>
            <a:ext cx="5858066" cy="68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Corrutinas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Dispatchers.IO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para llamadas no bloqueantes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5450" y="4748345"/>
            <a:ext cx="5858066" cy="36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Cleartext + network_security_config.xml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43500" y="5320241"/>
            <a:ext cx="6038850" cy="3483901"/>
          </a:xfrm>
          <a:prstGeom prst="roundRect">
            <a:avLst>
              <a:gd name="adj" fmla="val 2508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372100" y="5510742"/>
            <a:ext cx="5762816" cy="269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ec.edu.monster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LoginActivity.kt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MainActivity.kt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api/ApiService.kt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api/RetrofitClient.kt   ← SERVER_IP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model/ConversionModels.kt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vista/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InicioFragment.kt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TemperaturaFragment.kt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LongitudFragment.kt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PesoFragment.kt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1487150" y="2206360"/>
            <a:ext cx="6038850" cy="7852040"/>
          </a:xfrm>
          <a:prstGeom prst="roundRect">
            <a:avLst>
              <a:gd name="adj" fmla="val 1351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1734800" y="2415910"/>
            <a:ext cx="5724716" cy="726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ApiService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@POST("/CONUNI_RESTFUL_JAVA_GR02/api/conversion/convertir")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suspend fun convertir(@Body body: ConversionRequest)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Response&lt;ConversionResponse&gt;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@POST("/CONUNI_RESTFUL_JAVA_GR02/api/auth/login")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suspend fun login(@Body body: LoginRequest)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Response&lt;LoginResponse&gt;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RetrofitClient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val SERVER_IP = "192.168.0.90"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 api: ApiService by lazy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Retrofit.Builder()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.baseUrl("http://$SERVER_IP:8080/")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.addConverterFactory(GsonConverterFactory.create())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.build().create(ApiService::class.java)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43500" y="9766300"/>
            <a:ext cx="54902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4.5 CLIENTE MÓVIL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29321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00634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4700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09405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18883"/>
            <a:ext cx="1683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443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82433"/>
            <a:ext cx="19061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697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807883"/>
            <a:ext cx="120001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CONCLUSIONES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2206360"/>
            <a:ext cx="6086475" cy="1801548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143500" y="3999442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20636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2206360"/>
            <a:ext cx="76200" cy="1801548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21508" y="2206360"/>
            <a:ext cx="9525" cy="1801548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Text 26"/>
          <p:cNvSpPr/>
          <p:nvPr/>
        </p:nvSpPr>
        <p:spPr>
          <a:xfrm>
            <a:off x="5448300" y="2424377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8300" y="2672027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interoperable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8300" y="3069961"/>
            <a:ext cx="571094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JAX-RS expone una API JSON sobre HTTP consumible desde cuatro plataformas distintas. El mismo endpoint atiende a clientes Java y a un cliente Android/Kotlin sin cambios en el servidor.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439525" y="2206360"/>
            <a:ext cx="6086475" cy="1801548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39525" y="3999442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39525" y="220636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2206360"/>
            <a:ext cx="76200" cy="1801548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517533" y="2206360"/>
            <a:ext cx="9525" cy="1801548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744325" y="2424377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744325" y="2672027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proxies generados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744325" y="3069961"/>
            <a:ext cx="5710947" cy="52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 SOAP, no se generan stubs a partir de un WSDL: basta con conocer la URL y el formato JSON, y la URL base se cambia en una sola variable por cliente.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143500" y="4217458"/>
            <a:ext cx="6086475" cy="1805781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6014773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4217458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4217458"/>
            <a:ext cx="76200" cy="1805781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21508" y="4217458"/>
            <a:ext cx="9525" cy="180578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4" name="Text 42"/>
          <p:cNvSpPr/>
          <p:nvPr/>
        </p:nvSpPr>
        <p:spPr>
          <a:xfrm>
            <a:off x="5448300" y="4435475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48300" y="4683125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Retrofit2 en Android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8300" y="5081058"/>
            <a:ext cx="5710947" cy="762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Kotlin consume la API declarando los endpoints como una interfaz con anotaciones @POST y data classes serializadas con Gson.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1439525" y="4217458"/>
            <a:ext cx="6086475" cy="1805781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39525" y="6014773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39525" y="4217458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0" name="Shape 48"/>
          <p:cNvSpPr/>
          <p:nvPr/>
        </p:nvSpPr>
        <p:spPr>
          <a:xfrm>
            <a:off x="11439525" y="4217458"/>
            <a:ext cx="76200" cy="1805781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51" name="Shape 49"/>
          <p:cNvSpPr/>
          <p:nvPr/>
        </p:nvSpPr>
        <p:spPr>
          <a:xfrm>
            <a:off x="17517533" y="4217458"/>
            <a:ext cx="9525" cy="180578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2" name="Text 50"/>
          <p:cNvSpPr/>
          <p:nvPr/>
        </p:nvSpPr>
        <p:spPr>
          <a:xfrm>
            <a:off x="11744325" y="4435475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744325" y="4683125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base de datos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744325" y="5081058"/>
            <a:ext cx="571094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ausencia de BDD simplifica el despliegue en Payara y demuestra que un servicio REST es plenamente funcional para cómputo puro, facilitando portabilidad y mantenimiento.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5143500" y="9766300"/>
            <a:ext cx="544884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05 CONCLUSIONES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29321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00634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4700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09405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4097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443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82433"/>
            <a:ext cx="19061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697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769783"/>
            <a:ext cx="147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REFERENCIAS BIBLIOGRÁFICAS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Text 21"/>
          <p:cNvSpPr/>
          <p:nvPr/>
        </p:nvSpPr>
        <p:spPr>
          <a:xfrm>
            <a:off x="5505450" y="2301610"/>
            <a:ext cx="1239202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 Foundation (2022). Jakarta RESTful Web Services 3.1 Specification. jakarta.ee/specifications/restful-ws/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5450" y="3132138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 Foundation (2024). Eclipse Jersey Documentation. eclipse-ee4j.github.io/jersey/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05450" y="3642651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Payara Services (2024). Payara Server Documentation. docs.payara.fish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05450" y="4153165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(2024). Retrofit — A type-safe HTTP client for Android and Java. square.github.io/retrofit/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5450" y="4663678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Coroutines Guide.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kotlinlang.org/docs/coroutines-guide.html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34613" y="8911167"/>
            <a:ext cx="1991386" cy="41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5534613" y="9326034"/>
            <a:ext cx="1991386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350" kern="0" spc="27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02 · 2026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143500" y="9766300"/>
            <a:ext cx="531783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WS_CONUNI_RESTFUL_JAVA_GR02 · 07 BIBLIOGRAFÍA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3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4"/>
          <p:cNvSpPr txBox="1"/>
          <p:nvPr/>
        </p:nvSpPr>
        <p:spPr>
          <a:xfrm>
            <a:off x="800100" y="5715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1350" b="1" spc="297" dirty="0">
                <a:solidFill>
                  <a:srgbClr val="FFFFFF"/>
                </a:solidFill>
                <a:latin typeface="Arial"/>
                <a:cs typeface="Arial"/>
              </a:rPr>
              <a:t>04 · DESARROLLO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3400" y="1300000"/>
            <a:ext cx="3400000" cy="2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2000" b="1" spc="0" dirty="0">
                <a:solidFill>
                  <a:srgbClr val="CFD9E6"/>
                </a:solidFill>
                <a:latin typeface="Arial"/>
                <a:cs typeface="Arial"/>
              </a:rPr>
              <a:t>4.1  Servidor RESTful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4981500" y="600000"/>
            <a:ext cx="127065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3200" b="1" spc="0" dirty="0">
                <a:solidFill>
                  <a:srgbClr val="1A3260"/>
                </a:solidFill>
                <a:latin typeface="Arial"/>
                <a:cs typeface="Arial"/>
              </a:rPr>
              <a:t>Servidor RESTful desplegado en Payara</a:t>
            </a:r>
          </a:p>
        </p:txBody>
      </p:sp>
      <p:sp>
        <p:nvSpPr>
          <p:cNvPr id="7" name="Shape 7"/>
          <p:cNvSpPr/>
          <p:nvPr/>
        </p:nvSpPr>
        <p:spPr>
          <a:xfrm>
            <a:off x="4981500" y="1380000"/>
            <a:ext cx="1200000" cy="60000"/>
          </a:xfrm>
          <a:prstGeom prst="rect">
            <a:avLst/>
          </a:prstGeom>
          <a:solidFill>
            <a:srgbClr val="45CBE8"/>
          </a:solidFill>
          <a:ln/>
        </p:spPr>
      </p:sp>
      <p:pic>
        <p:nvPicPr>
          <p:cNvPr id="8" name="Captura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00" y="1867795"/>
            <a:ext cx="12706500" cy="7001409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9" name="Text 9"/>
          <p:cNvSpPr txBox="1"/>
          <p:nvPr/>
        </p:nvSpPr>
        <p:spPr>
          <a:xfrm>
            <a:off x="4981500" y="9019204"/>
            <a:ext cx="127065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C" sz="1400" spc="0" dirty="0">
                <a:solidFill>
                  <a:srgbClr val="5A6B7B"/>
                </a:solidFill>
                <a:latin typeface="Arial"/>
                <a:cs typeface="Arial"/>
              </a:rPr>
              <a:t>API disponible en /CONUNI_RESTFUL_JAVA_GR02/api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3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4"/>
          <p:cNvSpPr txBox="1"/>
          <p:nvPr/>
        </p:nvSpPr>
        <p:spPr>
          <a:xfrm>
            <a:off x="800100" y="5715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1350" b="1" spc="297" dirty="0">
                <a:solidFill>
                  <a:srgbClr val="FFFFFF"/>
                </a:solidFill>
                <a:latin typeface="Arial"/>
                <a:cs typeface="Arial"/>
              </a:rPr>
              <a:t>04 · DESARROLLO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3400" y="1300000"/>
            <a:ext cx="3400000" cy="2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2000" b="1" spc="0" dirty="0">
                <a:solidFill>
                  <a:srgbClr val="CFD9E6"/>
                </a:solidFill>
                <a:latin typeface="Arial"/>
                <a:cs typeface="Arial"/>
              </a:rPr>
              <a:t>4.3  Cliente de escritorio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4981500" y="600000"/>
            <a:ext cx="127065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3200" b="1" spc="0" dirty="0">
                <a:solidFill>
                  <a:srgbClr val="1A3260"/>
                </a:solidFill>
                <a:latin typeface="Arial"/>
                <a:cs typeface="Arial"/>
              </a:rPr>
              <a:t>Cliente de escritorio (Java Swing)</a:t>
            </a:r>
          </a:p>
        </p:txBody>
      </p:sp>
      <p:sp>
        <p:nvSpPr>
          <p:cNvPr id="7" name="Shape 7"/>
          <p:cNvSpPr/>
          <p:nvPr/>
        </p:nvSpPr>
        <p:spPr>
          <a:xfrm>
            <a:off x="4981500" y="1380000"/>
            <a:ext cx="1200000" cy="60000"/>
          </a:xfrm>
          <a:prstGeom prst="rect">
            <a:avLst/>
          </a:prstGeom>
          <a:solidFill>
            <a:srgbClr val="45CBE8"/>
          </a:solidFill>
          <a:ln/>
        </p:spPr>
      </p:sp>
      <p:pic>
        <p:nvPicPr>
          <p:cNvPr id="8" name="Captura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00" y="3389187"/>
            <a:ext cx="6153250" cy="3958625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9" name="Text 9"/>
          <p:cNvSpPr txBox="1"/>
          <p:nvPr/>
        </p:nvSpPr>
        <p:spPr>
          <a:xfrm>
            <a:off x="4981500" y="7497812"/>
            <a:ext cx="615325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C" sz="1400" spc="0" dirty="0">
                <a:solidFill>
                  <a:srgbClr val="5A6B7B"/>
                </a:solidFill>
                <a:latin typeface="Arial"/>
                <a:cs typeface="Arial"/>
              </a:rPr>
              <a:t>VentanaLogin</a:t>
            </a:r>
          </a:p>
        </p:txBody>
      </p:sp>
      <p:pic>
        <p:nvPicPr>
          <p:cNvPr id="10" name="Captura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750" y="3389187"/>
            <a:ext cx="6153250" cy="3958625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11" name="Text 11"/>
          <p:cNvSpPr txBox="1"/>
          <p:nvPr/>
        </p:nvSpPr>
        <p:spPr>
          <a:xfrm>
            <a:off x="11534750" y="7497812"/>
            <a:ext cx="615325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C" sz="1400" spc="0" dirty="0">
                <a:solidFill>
                  <a:srgbClr val="5A6B7B"/>
                </a:solidFill>
                <a:latin typeface="Arial"/>
                <a:cs typeface="Arial"/>
              </a:rPr>
              <a:t>PanelTemperatura con resultado REST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3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4"/>
          <p:cNvSpPr txBox="1"/>
          <p:nvPr/>
        </p:nvSpPr>
        <p:spPr>
          <a:xfrm>
            <a:off x="800100" y="5715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1350" b="1" spc="297" dirty="0">
                <a:solidFill>
                  <a:srgbClr val="FFFFFF"/>
                </a:solidFill>
                <a:latin typeface="Arial"/>
                <a:cs typeface="Arial"/>
              </a:rPr>
              <a:t>04 · DESARROLLO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3400" y="1300000"/>
            <a:ext cx="3400000" cy="2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2000" b="1" spc="0" dirty="0">
                <a:solidFill>
                  <a:srgbClr val="CFD9E6"/>
                </a:solidFill>
                <a:latin typeface="Arial"/>
                <a:cs typeface="Arial"/>
              </a:rPr>
              <a:t>4.3  Cliente de escritorio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4981500" y="600000"/>
            <a:ext cx="127065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3200" b="1" spc="0" dirty="0">
                <a:solidFill>
                  <a:srgbClr val="1A3260"/>
                </a:solidFill>
                <a:latin typeface="Arial"/>
                <a:cs typeface="Arial"/>
              </a:rPr>
              <a:t>Conversiones de longitud y peso</a:t>
            </a:r>
          </a:p>
        </p:txBody>
      </p:sp>
      <p:sp>
        <p:nvSpPr>
          <p:cNvPr id="7" name="Shape 7"/>
          <p:cNvSpPr/>
          <p:nvPr/>
        </p:nvSpPr>
        <p:spPr>
          <a:xfrm>
            <a:off x="4981500" y="1380000"/>
            <a:ext cx="1200000" cy="60000"/>
          </a:xfrm>
          <a:prstGeom prst="rect">
            <a:avLst/>
          </a:prstGeom>
          <a:solidFill>
            <a:srgbClr val="45CBE8"/>
          </a:solidFill>
          <a:ln/>
        </p:spPr>
      </p:sp>
      <p:pic>
        <p:nvPicPr>
          <p:cNvPr id="8" name="Captura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00" y="3338546"/>
            <a:ext cx="12706500" cy="4059907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9" name="Text 9"/>
          <p:cNvSpPr txBox="1"/>
          <p:nvPr/>
        </p:nvSpPr>
        <p:spPr>
          <a:xfrm>
            <a:off x="4981500" y="7548453"/>
            <a:ext cx="127065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C" sz="1400" spc="0" dirty="0">
                <a:solidFill>
                  <a:srgbClr val="5A6B7B"/>
                </a:solidFill>
                <a:latin typeface="Arial"/>
                <a:cs typeface="Arial"/>
              </a:rPr>
              <a:t>PanelLongitud y PanelPeso con resultados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3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4"/>
          <p:cNvSpPr txBox="1"/>
          <p:nvPr/>
        </p:nvSpPr>
        <p:spPr>
          <a:xfrm>
            <a:off x="800100" y="57150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1350" b="1" spc="297" dirty="0">
                <a:solidFill>
                  <a:srgbClr val="FFFFFF"/>
                </a:solidFill>
                <a:latin typeface="Arial"/>
                <a:cs typeface="Arial"/>
              </a:rPr>
              <a:t>04 · DESARROLLO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3400" y="1300000"/>
            <a:ext cx="3400000" cy="2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2000" b="1" spc="0" dirty="0">
                <a:solidFill>
                  <a:srgbClr val="CFD9E6"/>
                </a:solidFill>
                <a:latin typeface="Arial"/>
                <a:cs typeface="Arial"/>
              </a:rPr>
              <a:t>4.4  Cliente web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4981500" y="600000"/>
            <a:ext cx="127065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s-EC" sz="3200" b="1" spc="0" dirty="0">
                <a:solidFill>
                  <a:srgbClr val="1A3260"/>
                </a:solidFill>
                <a:latin typeface="Arial"/>
                <a:cs typeface="Arial"/>
              </a:rPr>
              <a:t>Cliente web (JSP + Servlets)</a:t>
            </a:r>
          </a:p>
        </p:txBody>
      </p:sp>
      <p:sp>
        <p:nvSpPr>
          <p:cNvPr id="7" name="Shape 7"/>
          <p:cNvSpPr/>
          <p:nvPr/>
        </p:nvSpPr>
        <p:spPr>
          <a:xfrm>
            <a:off x="4981500" y="1380000"/>
            <a:ext cx="1200000" cy="60000"/>
          </a:xfrm>
          <a:prstGeom prst="rect">
            <a:avLst/>
          </a:prstGeom>
          <a:solidFill>
            <a:srgbClr val="45CBE8"/>
          </a:solidFill>
          <a:ln/>
        </p:spPr>
      </p:sp>
      <p:pic>
        <p:nvPicPr>
          <p:cNvPr id="8" name="Captura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00" y="3445609"/>
            <a:ext cx="6153250" cy="3845781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9" name="Text 9"/>
          <p:cNvSpPr txBox="1"/>
          <p:nvPr/>
        </p:nvSpPr>
        <p:spPr>
          <a:xfrm>
            <a:off x="4981500" y="7441390"/>
            <a:ext cx="615325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C" sz="1400" spc="0" dirty="0">
                <a:solidFill>
                  <a:srgbClr val="5A6B7B"/>
                </a:solidFill>
                <a:latin typeface="Arial"/>
                <a:cs typeface="Arial"/>
              </a:rPr>
              <a:t>Inicio de sesión</a:t>
            </a:r>
          </a:p>
        </p:txBody>
      </p:sp>
      <p:pic>
        <p:nvPicPr>
          <p:cNvPr id="10" name="Captura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750" y="3445609"/>
            <a:ext cx="6153250" cy="3845781"/>
          </a:xfrm>
          <a:prstGeom prst="rect">
            <a:avLst/>
          </a:prstGeom>
          <a:ln w="12700">
            <a:solidFill>
              <a:srgbClr val="D9DEE3"/>
            </a:solidFill>
          </a:ln>
        </p:spPr>
      </p:pic>
      <p:sp>
        <p:nvSpPr>
          <p:cNvPr id="11" name="Text 11"/>
          <p:cNvSpPr txBox="1"/>
          <p:nvPr/>
        </p:nvSpPr>
        <p:spPr>
          <a:xfrm>
            <a:off x="11534750" y="7441390"/>
            <a:ext cx="615325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EC" sz="1400" spc="0" dirty="0">
                <a:solidFill>
                  <a:srgbClr val="5A6B7B"/>
                </a:solidFill>
                <a:latin typeface="Arial"/>
                <a:cs typeface="Arial"/>
              </a:rPr>
              <a:t>Conversión con resultado del servicio 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3352</Words>
  <Application>Microsoft Office PowerPoint</Application>
  <PresentationFormat>Personalizado</PresentationFormat>
  <Paragraphs>717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Richard G</cp:lastModifiedBy>
  <cp:revision>2</cp:revision>
  <dcterms:created xsi:type="dcterms:W3CDTF">2026-05-13T17:47:48Z</dcterms:created>
  <dcterms:modified xsi:type="dcterms:W3CDTF">2026-05-13T19:45:36Z</dcterms:modified>
</cp:coreProperties>
</file>