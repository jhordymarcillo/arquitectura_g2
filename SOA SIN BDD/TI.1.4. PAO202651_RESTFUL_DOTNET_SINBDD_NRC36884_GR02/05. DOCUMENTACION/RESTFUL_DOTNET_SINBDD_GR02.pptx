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2" r:id="rId6"/>
    <p:sldId id="264" r:id="rId7"/>
    <p:sldId id="305" r:id="rId8"/>
    <p:sldId id="306" r:id="rId9"/>
    <p:sldId id="267" r:id="rId10"/>
    <p:sldId id="270" r:id="rId11"/>
    <p:sldId id="307" r:id="rId12"/>
    <p:sldId id="308" r:id="rId13"/>
    <p:sldId id="309" r:id="rId14"/>
    <p:sldId id="310" r:id="rId15"/>
    <p:sldId id="312" r:id="rId16"/>
    <p:sldId id="313" r:id="rId17"/>
    <p:sldId id="314" r:id="rId18"/>
    <p:sldId id="315" r:id="rId19"/>
    <p:sldId id="316" r:id="rId20"/>
    <p:sldId id="317" r:id="rId21"/>
    <p:sldId id="319" r:id="rId22"/>
    <p:sldId id="320" r:id="rId23"/>
    <p:sldId id="321" r:id="rId24"/>
    <p:sldId id="302" r:id="rId25"/>
    <p:sldId id="303" r:id="rId26"/>
  </p:sldIdLst>
  <p:sldSz cx="12192000" cy="6858000"/>
  <p:notesSz cx="6858000" cy="9144000"/>
  <p:embeddedFontLs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Gill Sans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5898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0745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9273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8489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9559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264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2370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403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6843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0532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5960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6214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4553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5470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2301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G1" Type="http://schemas.openxmlformats.org/officeDocument/2006/relationships/image" Target="../media/gr02_1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G2" Type="http://schemas.openxmlformats.org/officeDocument/2006/relationships/image" Target="../media/gr02_2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G3" Type="http://schemas.openxmlformats.org/officeDocument/2006/relationships/image" Target="../media/gr02_3.png"/><Relationship Id="rIdG4" Type="http://schemas.openxmlformats.org/officeDocument/2006/relationships/image" Target="../media/gr02_4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G5" Type="http://schemas.openxmlformats.org/officeDocument/2006/relationships/image" Target="../media/gr02_5.png"/><Relationship Id="rIdG6" Type="http://schemas.openxmlformats.org/officeDocument/2006/relationships/image" Target="../media/gr02_6.pn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G7" Type="http://schemas.openxmlformats.org/officeDocument/2006/relationships/image" Target="../media/gr02_7.png"/><Relationship Id="rIdG8" Type="http://schemas.openxmlformats.org/officeDocument/2006/relationships/image" Target="../media/gr02_8.pn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G9" Type="http://schemas.openxmlformats.org/officeDocument/2006/relationships/image" Target="../media/gr02_9.png"/><Relationship Id="rIdG10" Type="http://schemas.openxmlformats.org/officeDocument/2006/relationships/image" Target="../media/gr02_10.png"/><Relationship Id="rIdG11" Type="http://schemas.openxmlformats.org/officeDocument/2006/relationships/image" Target="../media/gr02_11.png"/><Relationship Id="rIdG12" Type="http://schemas.openxmlformats.org/officeDocument/2006/relationships/image" Target="../media/gr02_12.pn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G13" Type="http://schemas.openxmlformats.org/officeDocument/2006/relationships/image" Target="../media/gr02_13.pn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G14" Type="http://schemas.openxmlformats.org/officeDocument/2006/relationships/image" Target="../media/gr02_14.png"/><Relationship Id="rIdG15" Type="http://schemas.openxmlformats.org/officeDocument/2006/relationships/image" Target="../media/gr02_15.pn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G16" Type="http://schemas.openxmlformats.org/officeDocument/2006/relationships/image" Target="../media/gr02_16.png"/><Relationship Id="rIdG17" Type="http://schemas.openxmlformats.org/officeDocument/2006/relationships/image" Target="../media/gr02_17.png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G18" Type="http://schemas.openxmlformats.org/officeDocument/2006/relationships/image" Target="../media/gr02_18.png"/><Relationship Id="rIdG19" Type="http://schemas.openxmlformats.org/officeDocument/2006/relationships/image" Target="../media/gr02_19.png"/><Relationship Id="rIdG20" Type="http://schemas.openxmlformats.org/officeDocument/2006/relationships/image" Target="../media/gr02_20.png"/><Relationship Id="rIdG21" Type="http://schemas.openxmlformats.org/officeDocument/2006/relationships/image" Target="../media/gr02_21.png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G22" Type="http://schemas.openxmlformats.org/officeDocument/2006/relationships/image" Target="../media/gr02_22.png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G23" Type="http://schemas.openxmlformats.org/officeDocument/2006/relationships/image" Target="../media/gr02_23.png"/><Relationship Id="rIdG24" Type="http://schemas.openxmlformats.org/officeDocument/2006/relationships/image" Target="../media/gr02_24.png"/></Relationships>
</file>

<file path=ppt/slides/_rels/slide1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G25" Type="http://schemas.openxmlformats.org/officeDocument/2006/relationships/image" Target="../media/gr02_25.png"/><Relationship Id="rIdG26" Type="http://schemas.openxmlformats.org/officeDocument/2006/relationships/image" Target="../media/gr02_26.png"/><Relationship Id="rIdG27" Type="http://schemas.openxmlformats.org/officeDocument/2006/relationships/image" Target="../media/gr02_27.png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G28" Type="http://schemas.openxmlformats.org/officeDocument/2006/relationships/image" Target="../media/gr02_28.png"/></Relationships>
</file>

<file path=ppt/slides/_rels/slide1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G29" Type="http://schemas.openxmlformats.org/officeDocument/2006/relationships/image" Target="../media/gr02_29.png"/><Relationship Id="rIdG30" Type="http://schemas.openxmlformats.org/officeDocument/2006/relationships/image" Target="../media/gr02_30.png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G31" Type="http://schemas.openxmlformats.org/officeDocument/2006/relationships/image" Target="../media/gr02_31.png"/><Relationship Id="rIdG32" Type="http://schemas.openxmlformats.org/officeDocument/2006/relationships/image" Target="../media/gr02_32.png"/><Relationship Id="rIdG33" Type="http://schemas.openxmlformats.org/officeDocument/2006/relationships/image" Target="../media/gr02_33.png"/></Relationships>
</file>

<file path=ppt/slides/_rels/slide2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G34" Type="http://schemas.openxmlformats.org/officeDocument/2006/relationships/image" Target="../media/gr02_34.png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G35" Type="http://schemas.openxmlformats.org/officeDocument/2006/relationships/image" Target="../media/gr02_35.png"/><Relationship Id="rIdG36" Type="http://schemas.openxmlformats.org/officeDocument/2006/relationships/image" Target="../media/gr02_36.png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G37" Type="http://schemas.openxmlformats.org/officeDocument/2006/relationships/image" Target="../media/gr02_37.png"/><Relationship Id="rIdG38" Type="http://schemas.openxmlformats.org/officeDocument/2006/relationships/image" Target="../media/gr02_38.png"/>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G39" Type="http://schemas.openxmlformats.org/officeDocument/2006/relationships/image" Target="../media/gr02_39.png"/><Relationship Id="rIdG40" Type="http://schemas.openxmlformats.org/officeDocument/2006/relationships/image" Target="../media/gr02_40.png"/></Relationships>
</file>

<file path=ppt/slides/_rels/slide2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MANUAL</a:t>
            </a:r>
            <a:br>
              <a:rPr lang="es-ES" dirty="0">
                <a:solidFill>
                  <a:schemeClr val="lt1"/>
                </a:solidFill>
              </a:rPr>
            </a:br>
            <a:r>
              <a:rPr lang="es-ES" dirty="0">
                <a:solidFill>
                  <a:schemeClr val="lt1"/>
                </a:solidFill>
              </a:rPr>
              <a:t>CONVUNI RESTFUL DOTNET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7" y="4572000"/>
            <a:ext cx="3972774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GERMAN CACERES		DAVID CEPEDA		JHORDY MARCILLO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27/10/2026</a:t>
            </a:r>
            <a:endParaRPr sz="1600" b="0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DESARROLLO</a:t>
            </a:r>
            <a:endParaRPr dirty="0"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dirty="0">
                <a:solidFill>
                  <a:schemeClr val="lt1"/>
                </a:solidFill>
              </a:rPr>
              <a:t>OBJETIVO</a:t>
            </a:r>
            <a:endParaRPr dirty="0"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dirty="0">
                <a:solidFill>
                  <a:schemeClr val="lt1"/>
                </a:solidFill>
              </a:rPr>
              <a:t>CREACIÓN DEL SERVIDOR RESTFUL EN DOTNET</a:t>
            </a:r>
            <a:endParaRPr dirty="0"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CONSOLA</a:t>
            </a:r>
            <a:endParaRPr dirty="0"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ESCRITORIO</a:t>
            </a:r>
            <a:endParaRPr dirty="0"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WEB</a:t>
            </a:r>
            <a:endParaRPr dirty="0"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MÓVIL</a:t>
            </a:r>
            <a:endParaRPr dirty="0"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CONCLUSIONES</a:t>
            </a:r>
            <a:endParaRPr dirty="0"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RECOMENDACIONES</a:t>
            </a:r>
            <a:endParaRPr dirty="0"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/>
                <a:ea typeface="Cambria"/>
                <a:cs typeface="Cambria"/>
                <a:sym typeface="Cambria"/>
              </a:rPr>
              <a:t>1.1	OBJETIVO</a:t>
            </a:r>
            <a:endParaRPr dirty="0"/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Desarrollar un sistema conversor de unidades basado en una Arquitectura Orientada a Servicios (SOA), con un servidor de servicios web RESTful implementado en ASP.NET Core sobre .NET 10, sin uso de base de datos, que sea consumido por clientes de consola y escritorio (Java), web (Python Flask) y móvil (Android) bajo el patrón MVC, documentando su proceso de construcción.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C" sz="1929" b="1" dirty="0">
                <a:latin typeface="Cambria"/>
                <a:ea typeface="Cambria"/>
                <a:cs typeface="Cambria"/>
                <a:sym typeface="Cambria"/>
              </a:rPr>
              <a:t>Estructura del Proyecto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El servidor WS_ConUnid_DOTNET_RESTFUL_GR02 es un proyecto ASP.NET Core Web API sobre .NET 10 desarrollado en Visual Studio 2026, junto con un proyecto de pruebas xUnit. Expone la ruta base /api/conversor en el puerto 5014.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1" name="Imagen GR02 1" descr="ide_vs.png">
            <a:extLst>
              <a:ext uri="{FF2B5EF4-FFF2-40B4-BE49-F238E27FC236}">
                <a16:creationId xmlns:a16="http://schemas.microsoft.com/office/drawing/2014/main" id="{8449715B-65D5-4704-A001-0C58B1A1A6F4}"/>
              </a:ext>
            </a:extLst>
          </p:cNvPr>
          <p:cNvPicPr/>
          <p:nvPr/>
        </p:nvPicPr>
        <p:blipFill>
          <a:blip r:embed="rIdG1"/>
          <a:stretch>
            <a:fillRect/>
          </a:stretch>
        </p:blipFill>
        <p:spPr>
          <a:xfrm>
            <a:off x="2822771" y="4073869"/>
            <a:ext cx="3880963" cy="2081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192" y="2209075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Noto Sans Symbols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El proyecto sigue el patrón Modelo-Vista-Controlador (MVC):</a:t>
            </a:r>
            <a:endParaRPr sz="1677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8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Se definen los paquetes ec.edu.monster: controladores (api y manejadores), modelos.utilidades (enums y mapeadores), seguridad, servicios y pruebas.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2" name="Imagen GR02 2" descr="explorador_vs.png">
            <a:extLst>
              <a:ext uri="{FF2B5EF4-FFF2-40B4-BE49-F238E27FC236}">
                <a16:creationId xmlns:a16="http://schemas.microsoft.com/office/drawing/2014/main" id="{3617C6EC-2797-4343-A5D8-2CF2D43D946A}"/>
              </a:ext>
            </a:extLst>
          </p:cNvPr>
          <p:cNvPicPr/>
          <p:nvPr/>
        </p:nvPicPr>
        <p:blipFill>
          <a:blip r:embed="rIdG2"/>
          <a:stretch>
            <a:fillRect/>
          </a:stretch>
        </p:blipFill>
        <p:spPr>
          <a:xfrm>
            <a:off x="6104314" y="2513484"/>
            <a:ext cx="2040655" cy="3642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8924758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MODELO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Se representan las categorías y unidades con enumeraciones, y el contrato JSON con clases de solicitud y respuesta. Al no usar base de datos, solo se manejan estructuras en memoria.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3" name="Imagen GR02 3" descr="s_unidad.png">
            <a:extLst>
              <a:ext uri="{FF2B5EF4-FFF2-40B4-BE49-F238E27FC236}">
                <a16:creationId xmlns:a16="http://schemas.microsoft.com/office/drawing/2014/main" id="{5BEAB738-2387-4133-9CBD-C7A5186E72E5}"/>
              </a:ext>
            </a:extLst>
          </p:cNvPr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657141" y="3592651"/>
            <a:ext cx="4166041" cy="2679530"/>
          </a:xfrm>
          <a:prstGeom prst="rect">
            <a:avLst/>
          </a:prstGeom>
        </p:spPr>
      </p:pic>
      <p:pic>
        <p:nvPicPr>
          <p:cNvPr id="9004" name="Imagen GR02 4" descr="s_solicitud.png">
            <a:extLst>
              <a:ext uri="{FF2B5EF4-FFF2-40B4-BE49-F238E27FC236}">
                <a16:creationId xmlns:a16="http://schemas.microsoft.com/office/drawing/2014/main" id="{5BEAB738-2387-4133-9CBD-C7A5186E72E5}"/>
              </a:ext>
            </a:extLst>
          </p:cNvPr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4943182" y="3771020"/>
            <a:ext cx="4166041" cy="2322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49414" y="1798786"/>
            <a:ext cx="3532036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SERVICIO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Los servicios contienen la lógica de negocio: autenticar al usuario, entregar el catálogo y convertir validando la categoría, las unidades y el valor.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5" name="Imagen GR02 5" descr="s_servaut.png">
            <a:extLst>
              <a:ext uri="{FF2B5EF4-FFF2-40B4-BE49-F238E27FC236}">
                <a16:creationId xmlns:a16="http://schemas.microsoft.com/office/drawing/2014/main" id="{BC970111-BABC-42B8-B3A0-5578B4CCD1D2}"/>
              </a:ext>
            </a:extLst>
          </p:cNvPr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4100000" y="3504670"/>
            <a:ext cx="2515000" cy="1490659"/>
          </a:xfrm>
          <a:prstGeom prst="rect">
            <a:avLst/>
          </a:prstGeom>
        </p:spPr>
      </p:pic>
      <p:pic>
        <p:nvPicPr>
          <p:cNvPr id="9006" name="Imagen GR02 6" descr="s_servconv.png">
            <a:extLst>
              <a:ext uri="{FF2B5EF4-FFF2-40B4-BE49-F238E27FC236}">
                <a16:creationId xmlns:a16="http://schemas.microsoft.com/office/drawing/2014/main" id="{BC970111-BABC-42B8-B3A0-5578B4CCD1D2}"/>
              </a:ext>
            </a:extLst>
          </p:cNvPr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6735000" y="3256280"/>
            <a:ext cx="2515000" cy="19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3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49413" y="1798786"/>
            <a:ext cx="8608861" cy="1373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b="1" dirty="0">
                <a:latin typeface="Cambria"/>
                <a:ea typeface="Cambria"/>
                <a:cs typeface="Cambria"/>
                <a:sym typeface="Cambria"/>
              </a:rPr>
              <a:t>Recursos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700" dirty="0">
                <a:latin typeface="Cambria"/>
                <a:ea typeface="Cambria"/>
                <a:cs typeface="Cambria"/>
                <a:sym typeface="Cambria"/>
              </a:rPr>
              <a:t>Se definen los endpoints bajo /api/conversor: POST login, GET categorias, GET categorias/{categoria}/unidades y POST convertir. El filtro ManejadorAutenticacion valida el token Bearer en cada petición.</a:t>
            </a: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7" name="Imagen GR02 7" descr="s_controlador.png">
            <a:extLst>
              <a:ext uri="{FF2B5EF4-FFF2-40B4-BE49-F238E27FC236}">
                <a16:creationId xmlns:a16="http://schemas.microsoft.com/office/drawing/2014/main" id="{78FA68E7-FE86-4CF5-ADFD-D957568E78CD}"/>
              </a:ext>
            </a:extLst>
          </p:cNvPr>
          <p:cNvPicPr>
            <a:picLocks noChangeAspect="1"/>
          </p:cNvPicPr>
          <p:nvPr/>
        </p:nvPicPr>
        <p:blipFill>
          <a:blip r:embed="rIdG7"/>
          <a:stretch>
            <a:fillRect/>
          </a:stretch>
        </p:blipFill>
        <p:spPr>
          <a:xfrm>
            <a:off x="1285522" y="3171824"/>
            <a:ext cx="2851235" cy="3423451"/>
          </a:xfrm>
          <a:prstGeom prst="rect">
            <a:avLst/>
          </a:prstGeom>
        </p:spPr>
      </p:pic>
      <p:pic>
        <p:nvPicPr>
          <p:cNvPr id="9008" name="Imagen GR02 8" descr="s_filtro.png">
            <a:extLst>
              <a:ext uri="{FF2B5EF4-FFF2-40B4-BE49-F238E27FC236}">
                <a16:creationId xmlns:a16="http://schemas.microsoft.com/office/drawing/2014/main" id="{78FA68E7-FE86-4CF5-ADFD-D957568E78CD}"/>
              </a:ext>
            </a:extLst>
          </p:cNvPr>
          <p:cNvPicPr>
            <a:picLocks noChangeAspect="1"/>
          </p:cNvPicPr>
          <p:nvPr/>
        </p:nvPicPr>
        <p:blipFill>
          <a:blip r:embed="rIdG8"/>
          <a:stretch>
            <a:fillRect/>
          </a:stretch>
        </p:blipFill>
        <p:spPr>
          <a:xfrm>
            <a:off x="5028507" y="3171824"/>
            <a:ext cx="4125059" cy="342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2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150" y="1921750"/>
            <a:ext cx="60186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EJECUCIÓN DEL SERVIDOR Y PRUEBAS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9" name="Imagen GR02 9" descr="srv_ejecucion.png">
            <a:extLst>
              <a:ext uri="{FF2B5EF4-FFF2-40B4-BE49-F238E27FC236}">
                <a16:creationId xmlns:a16="http://schemas.microsoft.com/office/drawing/2014/main" id="{7523298D-15CD-4F51-8F66-BF9B70B136A9}"/>
              </a:ext>
            </a:extLst>
          </p:cNvPr>
          <p:cNvPicPr/>
          <p:nvPr/>
        </p:nvPicPr>
        <p:blipFill>
          <a:blip r:embed="rIdG9"/>
          <a:stretch>
            <a:fillRect/>
          </a:stretch>
        </p:blipFill>
        <p:spPr>
          <a:xfrm>
            <a:off x="945649" y="2750000"/>
            <a:ext cx="3348701" cy="1940000"/>
          </a:xfrm>
          <a:prstGeom prst="rect">
            <a:avLst/>
          </a:prstGeom>
        </p:spPr>
      </p:pic>
      <p:pic>
        <p:nvPicPr>
          <p:cNvPr id="9010" name="Imagen GR02 10" descr="srv_tests_c.png">
            <a:extLst>
              <a:ext uri="{FF2B5EF4-FFF2-40B4-BE49-F238E27FC236}">
                <a16:creationId xmlns:a16="http://schemas.microsoft.com/office/drawing/2014/main" id="{7523298D-15CD-4F51-8F66-BF9B70B136A9}"/>
              </a:ext>
            </a:extLst>
          </p:cNvPr>
          <p:cNvPicPr/>
          <p:nvPr/>
        </p:nvPicPr>
        <p:blipFill>
          <a:blip r:embed="rIdG10"/>
          <a:stretch>
            <a:fillRect/>
          </a:stretch>
        </p:blipFill>
        <p:spPr>
          <a:xfrm>
            <a:off x="4917708" y="2750000"/>
            <a:ext cx="4324583" cy="1940000"/>
          </a:xfrm>
          <a:prstGeom prst="rect">
            <a:avLst/>
          </a:prstGeom>
        </p:spPr>
      </p:pic>
      <p:pic>
        <p:nvPicPr>
          <p:cNvPr id="9011" name="Imagen GR02 11" descr="srv_pruebas_exito.png">
            <a:extLst>
              <a:ext uri="{FF2B5EF4-FFF2-40B4-BE49-F238E27FC236}">
                <a16:creationId xmlns:a16="http://schemas.microsoft.com/office/drawing/2014/main" id="{7523298D-15CD-4F51-8F66-BF9B70B136A9}"/>
              </a:ext>
            </a:extLst>
          </p:cNvPr>
          <p:cNvPicPr/>
          <p:nvPr/>
        </p:nvPicPr>
        <p:blipFill>
          <a:blip r:embed="rIdG11"/>
          <a:stretch>
            <a:fillRect/>
          </a:stretch>
        </p:blipFill>
        <p:spPr>
          <a:xfrm>
            <a:off x="796022" y="4810000"/>
            <a:ext cx="3647955" cy="1940000"/>
          </a:xfrm>
          <a:prstGeom prst="rect">
            <a:avLst/>
          </a:prstGeom>
        </p:spPr>
      </p:pic>
      <p:pic>
        <p:nvPicPr>
          <p:cNvPr id="9012" name="Imagen GR02 12" descr="srv_pruebas_errores.png">
            <a:extLst>
              <a:ext uri="{FF2B5EF4-FFF2-40B4-BE49-F238E27FC236}">
                <a16:creationId xmlns:a16="http://schemas.microsoft.com/office/drawing/2014/main" id="{7523298D-15CD-4F51-8F66-BF9B70B136A9}"/>
              </a:ext>
            </a:extLst>
          </p:cNvPr>
          <p:cNvPicPr/>
          <p:nvPr/>
        </p:nvPicPr>
        <p:blipFill>
          <a:blip r:embed="rIdG12"/>
          <a:stretch>
            <a:fillRect/>
          </a:stretch>
        </p:blipFill>
        <p:spPr>
          <a:xfrm>
            <a:off x="5256022" y="4810000"/>
            <a:ext cx="3647955" cy="19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192" y="167389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CREACIÓN DEL PROYECTO CLIENTE CONSOLA</a:t>
            </a:r>
          </a:p>
          <a:p>
            <a:pPr marL="457200" lvl="0" indent="-32797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lang="es-MX" sz="1600" dirty="0">
                <a:latin typeface="Cambria"/>
                <a:ea typeface="Cambria"/>
                <a:cs typeface="Cambria"/>
                <a:sym typeface="Cambria"/>
              </a:rPr>
              <a:t>Se crea un proyecto Maven de Java 17 en Apache NetBeans con los paquetes controlador, modelo y vista. Usa la librería org.json y se empaqueta como un JAR ejecutable.</a:t>
            </a:r>
            <a:endParaRPr lang="es-EC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3" name="Imagen GR02 13" descr="ide_netbeans.png">
            <a:extLst>
              <a:ext uri="{FF2B5EF4-FFF2-40B4-BE49-F238E27FC236}">
                <a16:creationId xmlns:a16="http://schemas.microsoft.com/office/drawing/2014/main" id="{765655BB-8552-4C40-BCF9-EB82BE3394CB}"/>
              </a:ext>
            </a:extLst>
          </p:cNvPr>
          <p:cNvPicPr/>
          <p:nvPr/>
        </p:nvPicPr>
        <p:blipFill>
          <a:blip r:embed="rIdG13"/>
          <a:stretch>
            <a:fillRect/>
          </a:stretch>
        </p:blipFill>
        <p:spPr>
          <a:xfrm>
            <a:off x="2650711" y="3930858"/>
            <a:ext cx="4147546" cy="22249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8924758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MODELO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Se especifica la estructura de la solicitud y la respuesta de conversión, y la sesión que guarda el token entregado por el servidor.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4" name="Imagen GR02 14" descr="c_request.png">
            <a:extLst>
              <a:ext uri="{FF2B5EF4-FFF2-40B4-BE49-F238E27FC236}">
                <a16:creationId xmlns:a16="http://schemas.microsoft.com/office/drawing/2014/main" id="{D4D9B327-E5CE-4490-999B-3988D441DAFC}"/>
              </a:ext>
            </a:extLst>
          </p:cNvPr>
          <p:cNvPicPr>
            <a:picLocks noChangeAspect="1"/>
          </p:cNvPicPr>
          <p:nvPr/>
        </p:nvPicPr>
        <p:blipFill>
          <a:blip r:embed="rIdG14"/>
          <a:stretch>
            <a:fillRect/>
          </a:stretch>
        </p:blipFill>
        <p:spPr>
          <a:xfrm>
            <a:off x="704483" y="3433868"/>
            <a:ext cx="3921238" cy="2596896"/>
          </a:xfrm>
          <a:prstGeom prst="rect">
            <a:avLst/>
          </a:prstGeom>
        </p:spPr>
      </p:pic>
      <p:pic>
        <p:nvPicPr>
          <p:cNvPr id="9015" name="Imagen GR02 15" descr="c_sesion.png">
            <a:extLst>
              <a:ext uri="{FF2B5EF4-FFF2-40B4-BE49-F238E27FC236}">
                <a16:creationId xmlns:a16="http://schemas.microsoft.com/office/drawing/2014/main" id="{D4D9B327-E5CE-4490-999B-3988D441DAFC}"/>
              </a:ext>
            </a:extLst>
          </p:cNvPr>
          <p:cNvPicPr>
            <a:picLocks noChangeAspect="1"/>
          </p:cNvPicPr>
          <p:nvPr/>
        </p:nvPicPr>
        <p:blipFill>
          <a:blip r:embed="rIdG15"/>
          <a:stretch>
            <a:fillRect/>
          </a:stretch>
        </p:blipFill>
        <p:spPr>
          <a:xfrm>
            <a:off x="5613406" y="3433868"/>
            <a:ext cx="2679032" cy="259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8924758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CONTROLADOR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>
                <a:latin typeface="Cambria"/>
                <a:ea typeface="Cambria"/>
                <a:cs typeface="Cambria"/>
                <a:sym typeface="Cambria"/>
              </a:rPr>
              <a:t>ApiService arma las peticiones HTTP, agrega la cabecera Authorization: Bearer y traduce las respuestas JSON; Configuracion elige el servidor (192.168.137.1 o localhost).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6" name="Imagen GR02 16" descr="c_api.png">
            <a:extLst>
              <a:ext uri="{FF2B5EF4-FFF2-40B4-BE49-F238E27FC236}">
                <a16:creationId xmlns:a16="http://schemas.microsoft.com/office/drawing/2014/main" id="{4113F824-D356-4E58-80E2-E723B7D6565C}"/>
              </a:ext>
            </a:extLst>
          </p:cNvPr>
          <p:cNvPicPr>
            <a:picLocks noChangeAspect="1"/>
          </p:cNvPicPr>
          <p:nvPr/>
        </p:nvPicPr>
        <p:blipFill>
          <a:blip r:embed="rIdG16"/>
          <a:stretch>
            <a:fillRect/>
          </a:stretch>
        </p:blipFill>
        <p:spPr>
          <a:xfrm>
            <a:off x="1160242" y="3447518"/>
            <a:ext cx="2874237" cy="2719636"/>
          </a:xfrm>
          <a:prstGeom prst="rect">
            <a:avLst/>
          </a:prstGeom>
        </p:spPr>
      </p:pic>
      <p:pic>
        <p:nvPicPr>
          <p:cNvPr id="9017" name="Imagen GR02 17" descr="c_config.png">
            <a:extLst>
              <a:ext uri="{FF2B5EF4-FFF2-40B4-BE49-F238E27FC236}">
                <a16:creationId xmlns:a16="http://schemas.microsoft.com/office/drawing/2014/main" id="{4113F824-D356-4E58-80E2-E723B7D6565C}"/>
              </a:ext>
            </a:extLst>
          </p:cNvPr>
          <p:cNvPicPr>
            <a:picLocks noChangeAspect="1"/>
          </p:cNvPicPr>
          <p:nvPr/>
        </p:nvPicPr>
        <p:blipFill>
          <a:blip r:embed="rIdG17"/>
          <a:stretch>
            <a:fillRect/>
          </a:stretch>
        </p:blipFill>
        <p:spPr>
          <a:xfrm>
            <a:off x="5737648" y="3447518"/>
            <a:ext cx="2589311" cy="27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0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8924758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VISTA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>
                <a:latin typeface="Cambria"/>
                <a:ea typeface="Cambria"/>
                <a:cs typeface="Cambria"/>
                <a:sym typeface="Cambria"/>
              </a:rPr>
              <a:t>Menú de texto de la consola: inicio de sesión, conversión de longitud y conversión de temperatura.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8" name="Imagen GR02 18" descr="con_inicio.png">
            <a:extLst>
              <a:ext uri="{FF2B5EF4-FFF2-40B4-BE49-F238E27FC236}">
                <a16:creationId xmlns:a16="http://schemas.microsoft.com/office/drawing/2014/main" id="{E6BD6FFF-DE01-4EF3-B890-B96DBEFA9624}"/>
              </a:ext>
            </a:extLst>
          </p:cNvPr>
          <p:cNvPicPr/>
          <p:nvPr/>
        </p:nvPicPr>
        <p:blipFill>
          <a:blip r:embed="rIdG18"/>
          <a:stretch>
            <a:fillRect/>
          </a:stretch>
        </p:blipFill>
        <p:spPr>
          <a:xfrm>
            <a:off x="1321917" y="3241214"/>
            <a:ext cx="1842199" cy="1595273"/>
          </a:xfrm>
          <a:prstGeom prst="rect">
            <a:avLst/>
          </a:prstGeom>
        </p:spPr>
      </p:pic>
      <p:pic>
        <p:nvPicPr>
          <p:cNvPr id="9019" name="Imagen GR02 19" descr="con_login.png">
            <a:extLst>
              <a:ext uri="{FF2B5EF4-FFF2-40B4-BE49-F238E27FC236}">
                <a16:creationId xmlns:a16="http://schemas.microsoft.com/office/drawing/2014/main" id="{E6BD6FFF-DE01-4EF3-B890-B96DBEFA9624}"/>
              </a:ext>
            </a:extLst>
          </p:cNvPr>
          <p:cNvPicPr/>
          <p:nvPr/>
        </p:nvPicPr>
        <p:blipFill>
          <a:blip r:embed="rIdG19"/>
          <a:stretch>
            <a:fillRect/>
          </a:stretch>
        </p:blipFill>
        <p:spPr>
          <a:xfrm>
            <a:off x="5086272" y="3241214"/>
            <a:ext cx="1842199" cy="1595273"/>
          </a:xfrm>
          <a:prstGeom prst="rect">
            <a:avLst/>
          </a:prstGeom>
        </p:spPr>
      </p:pic>
      <p:pic>
        <p:nvPicPr>
          <p:cNvPr id="9020" name="Imagen GR02 20" descr="con_conversion.png">
            <a:extLst>
              <a:ext uri="{FF2B5EF4-FFF2-40B4-BE49-F238E27FC236}">
                <a16:creationId xmlns:a16="http://schemas.microsoft.com/office/drawing/2014/main" id="{E6BD6FFF-DE01-4EF3-B890-B96DBEFA9624}"/>
              </a:ext>
            </a:extLst>
          </p:cNvPr>
          <p:cNvPicPr/>
          <p:nvPr/>
        </p:nvPicPr>
        <p:blipFill>
          <a:blip r:embed="rIdG20"/>
          <a:stretch>
            <a:fillRect/>
          </a:stretch>
        </p:blipFill>
        <p:spPr>
          <a:xfrm>
            <a:off x="1321917" y="4956487"/>
            <a:ext cx="1842199" cy="1595273"/>
          </a:xfrm>
          <a:prstGeom prst="rect">
            <a:avLst/>
          </a:prstGeom>
        </p:spPr>
      </p:pic>
      <p:pic>
        <p:nvPicPr>
          <p:cNvPr id="9021" name="Imagen GR02 21" descr="con_temperatura.png">
            <a:extLst>
              <a:ext uri="{FF2B5EF4-FFF2-40B4-BE49-F238E27FC236}">
                <a16:creationId xmlns:a16="http://schemas.microsoft.com/office/drawing/2014/main" id="{E6BD6FFF-DE01-4EF3-B890-B96DBEFA9624}"/>
              </a:ext>
            </a:extLst>
          </p:cNvPr>
          <p:cNvPicPr/>
          <p:nvPr/>
        </p:nvPicPr>
        <p:blipFill>
          <a:blip r:embed="rIdG21"/>
          <a:stretch>
            <a:fillRect/>
          </a:stretch>
        </p:blipFill>
        <p:spPr>
          <a:xfrm>
            <a:off x="5086272" y="4956487"/>
            <a:ext cx="1842199" cy="15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00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56891" y="1715856"/>
            <a:ext cx="8577583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CREACIÓN DEL PROYECTO CLIENTE ESCRITORIO</a:t>
            </a:r>
          </a:p>
          <a:p>
            <a:pPr marL="457200" lvl="0" indent="-32797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lang="es-MX" sz="1600" dirty="0">
                <a:latin typeface="Cambria"/>
                <a:ea typeface="Cambria"/>
                <a:cs typeface="Cambria"/>
                <a:sym typeface="Cambria"/>
              </a:rPr>
              <a:t>Se crea un proyecto Maven de Java 17 con interfaz Swing en Apache NetBeans, con la misma organización de paquetes que el cliente consola.</a:t>
            </a:r>
            <a:endParaRPr lang="es-EC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22" name="Imagen GR02 22" descr="ide_netbeans_esc.png">
            <a:extLst>
              <a:ext uri="{FF2B5EF4-FFF2-40B4-BE49-F238E27FC236}">
                <a16:creationId xmlns:a16="http://schemas.microsoft.com/office/drawing/2014/main" id="{35C2E620-0A38-4DBB-BD43-7BA0EFBD3506}"/>
              </a:ext>
            </a:extLst>
          </p:cNvPr>
          <p:cNvPicPr/>
          <p:nvPr/>
        </p:nvPicPr>
        <p:blipFill>
          <a:blip r:embed="rIdG22"/>
          <a:stretch>
            <a:fillRect/>
          </a:stretch>
        </p:blipFill>
        <p:spPr>
          <a:xfrm>
            <a:off x="2760804" y="3865354"/>
            <a:ext cx="3839891" cy="205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4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4036861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MODELO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El modelo es el mismo del cliente consola: ConversionRequest, ConversionResponse, ExcepcionApi y SesionUsuario.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g2d624313899_0_26">
            <a:extLst>
              <a:ext uri="{FF2B5EF4-FFF2-40B4-BE49-F238E27FC236}">
                <a16:creationId xmlns:a16="http://schemas.microsoft.com/office/drawing/2014/main" id="{B69C935B-D8B6-402D-ABFE-1A946C2F86E3}"/>
              </a:ext>
            </a:extLst>
          </p:cNvPr>
          <p:cNvSpPr txBox="1">
            <a:spLocks/>
          </p:cNvSpPr>
          <p:nvPr/>
        </p:nvSpPr>
        <p:spPr>
          <a:xfrm>
            <a:off x="502587" y="3278082"/>
            <a:ext cx="4036861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Noto Sans Symbols"/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CONTROLADOR</a:t>
            </a:r>
            <a:endParaRPr lang="es-ES"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>
                <a:latin typeface="Cambria"/>
                <a:ea typeface="Cambria"/>
                <a:cs typeface="Cambria"/>
                <a:sym typeface="Cambria"/>
              </a:rPr>
              <a:t>ApiService y Configuracion se reutilizan sin cambios; TareaApi ejecuta las llamadas en segundo plano con SwingWorker.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23" name="Imagen GR02 23" descr="e_tarea.png">
            <a:extLst>
              <a:ext uri="{FF2B5EF4-FFF2-40B4-BE49-F238E27FC236}">
                <a16:creationId xmlns:a16="http://schemas.microsoft.com/office/drawing/2014/main" id="{4A59F353-4058-4AA9-BF71-82AF078EDA67}"/>
              </a:ext>
            </a:extLst>
          </p:cNvPr>
          <p:cNvPicPr>
            <a:picLocks noChangeAspect="1"/>
          </p:cNvPicPr>
          <p:nvPr/>
        </p:nvPicPr>
        <p:blipFill>
          <a:blip r:embed="rIdG23"/>
          <a:stretch>
            <a:fillRect/>
          </a:stretch>
        </p:blipFill>
        <p:spPr>
          <a:xfrm>
            <a:off x="4600000" y="2910450"/>
            <a:ext cx="2265000" cy="2729100"/>
          </a:xfrm>
          <a:prstGeom prst="rect">
            <a:avLst/>
          </a:prstGeom>
        </p:spPr>
      </p:pic>
      <p:pic>
        <p:nvPicPr>
          <p:cNvPr id="9024" name="Imagen GR02 24" descr="e_convertir.png">
            <a:extLst>
              <a:ext uri="{FF2B5EF4-FFF2-40B4-BE49-F238E27FC236}">
                <a16:creationId xmlns:a16="http://schemas.microsoft.com/office/drawing/2014/main" id="{4A59F353-4058-4AA9-BF71-82AF078EDA67}"/>
              </a:ext>
            </a:extLst>
          </p:cNvPr>
          <p:cNvPicPr>
            <a:picLocks noChangeAspect="1"/>
          </p:cNvPicPr>
          <p:nvPr/>
        </p:nvPicPr>
        <p:blipFill>
          <a:blip r:embed="rIdG24"/>
          <a:stretch>
            <a:fillRect/>
          </a:stretch>
        </p:blipFill>
        <p:spPr>
          <a:xfrm>
            <a:off x="6985000" y="3007359"/>
            <a:ext cx="2265000" cy="25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2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504992"/>
            <a:ext cx="8924758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VISTA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 err="1">
                <a:latin typeface="Cambria"/>
                <a:ea typeface="Cambria"/>
                <a:cs typeface="Cambria"/>
                <a:sym typeface="Cambria"/>
              </a:rPr>
              <a:t>Ventanas Swing del cliente de escritorio: inicio de sesión, conversor y resultado de la conversión.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25" name="Imagen GR02 25" descr="esc_login.png">
            <a:extLst>
              <a:ext uri="{FF2B5EF4-FFF2-40B4-BE49-F238E27FC236}">
                <a16:creationId xmlns:a16="http://schemas.microsoft.com/office/drawing/2014/main" id="{E2A40053-B879-452E-A4CB-C9CE0F16D4D6}"/>
              </a:ext>
            </a:extLst>
          </p:cNvPr>
          <p:cNvPicPr/>
          <p:nvPr/>
        </p:nvPicPr>
        <p:blipFill>
          <a:blip r:embed="rIdG25"/>
          <a:stretch>
            <a:fillRect/>
          </a:stretch>
        </p:blipFill>
        <p:spPr>
          <a:xfrm>
            <a:off x="581192" y="3131475"/>
            <a:ext cx="2739433" cy="3363311"/>
          </a:xfrm>
          <a:prstGeom prst="rect">
            <a:avLst/>
          </a:prstGeom>
        </p:spPr>
      </p:pic>
      <p:pic>
        <p:nvPicPr>
          <p:cNvPr id="9026" name="Imagen GR02 26" descr="esc_conversor.png">
            <a:extLst>
              <a:ext uri="{FF2B5EF4-FFF2-40B4-BE49-F238E27FC236}">
                <a16:creationId xmlns:a16="http://schemas.microsoft.com/office/drawing/2014/main" id="{E2A40053-B879-452E-A4CB-C9CE0F16D4D6}"/>
              </a:ext>
            </a:extLst>
          </p:cNvPr>
          <p:cNvPicPr/>
          <p:nvPr/>
        </p:nvPicPr>
        <p:blipFill>
          <a:blip r:embed="rIdG26"/>
          <a:stretch>
            <a:fillRect/>
          </a:stretch>
        </p:blipFill>
        <p:spPr>
          <a:xfrm>
            <a:off x="3440626" y="3257573"/>
            <a:ext cx="2739433" cy="3111115"/>
          </a:xfrm>
          <a:prstGeom prst="rect">
            <a:avLst/>
          </a:prstGeom>
        </p:spPr>
      </p:pic>
      <p:pic>
        <p:nvPicPr>
          <p:cNvPr id="9027" name="Imagen GR02 27" descr="esc_resultado.png">
            <a:extLst>
              <a:ext uri="{FF2B5EF4-FFF2-40B4-BE49-F238E27FC236}">
                <a16:creationId xmlns:a16="http://schemas.microsoft.com/office/drawing/2014/main" id="{E2A40053-B879-452E-A4CB-C9CE0F16D4D6}"/>
              </a:ext>
            </a:extLst>
          </p:cNvPr>
          <p:cNvPicPr/>
          <p:nvPr/>
        </p:nvPicPr>
        <p:blipFill>
          <a:blip r:embed="rIdG27"/>
          <a:stretch>
            <a:fillRect/>
          </a:stretch>
        </p:blipFill>
        <p:spPr>
          <a:xfrm>
            <a:off x="6300059" y="3257573"/>
            <a:ext cx="2739433" cy="311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20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C" sz="1929" b="1" dirty="0">
                <a:latin typeface="Cambria"/>
                <a:ea typeface="Cambria"/>
                <a:cs typeface="Cambria"/>
                <a:sym typeface="Cambria"/>
              </a:rPr>
              <a:t>Creación de Proyecto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crea el cliente web en Python con Flask en Visual Studio Code: app.py contiene las rutas, templates las vistas Jinja2 y requirements.txt las dependencias. Se ejecuta en el puerto 3000.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28" name="Imagen GR02 28" descr="ide_vscode.png">
            <a:extLst>
              <a:ext uri="{FF2B5EF4-FFF2-40B4-BE49-F238E27FC236}">
                <a16:creationId xmlns:a16="http://schemas.microsoft.com/office/drawing/2014/main" id="{D8E23E7F-FA1E-49E7-BB57-2D263F4457C4}"/>
              </a:ext>
            </a:extLst>
          </p:cNvPr>
          <p:cNvPicPr/>
          <p:nvPr/>
        </p:nvPicPr>
        <p:blipFill>
          <a:blip r:embed="rIdG28"/>
          <a:stretch>
            <a:fillRect/>
          </a:stretch>
        </p:blipFill>
        <p:spPr>
          <a:xfrm>
            <a:off x="2832651" y="3989704"/>
            <a:ext cx="3766503" cy="202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43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4036861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MODELO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La sesión de Flask guarda el token y el usuario; las solicitudes se arman como diccionarios JSON con categoria, unidades y valor.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g2d624313899_0_26">
            <a:extLst>
              <a:ext uri="{FF2B5EF4-FFF2-40B4-BE49-F238E27FC236}">
                <a16:creationId xmlns:a16="http://schemas.microsoft.com/office/drawing/2014/main" id="{B69C935B-D8B6-402D-ABFE-1A946C2F86E3}"/>
              </a:ext>
            </a:extLst>
          </p:cNvPr>
          <p:cNvSpPr txBox="1">
            <a:spLocks/>
          </p:cNvSpPr>
          <p:nvPr/>
        </p:nvSpPr>
        <p:spPr>
          <a:xfrm>
            <a:off x="502587" y="3278082"/>
            <a:ext cx="4036861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Noto Sans Symbols"/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CONTROLADOR</a:t>
            </a:r>
            <a:endParaRPr lang="es-ES"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>
                <a:latin typeface="Cambria"/>
                <a:ea typeface="Cambria"/>
                <a:cs typeface="Cambria"/>
                <a:sym typeface="Cambria"/>
              </a:rPr>
              <a:t>Las rutas de app.py llaman al servidor con requests, envían el token Bearer y redirigen al login cuando el servidor responde AUTH-001 o AUTH-002.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29" name="Imagen GR02 29" descr="w_llamar.png">
            <a:extLst>
              <a:ext uri="{FF2B5EF4-FFF2-40B4-BE49-F238E27FC236}">
                <a16:creationId xmlns:a16="http://schemas.microsoft.com/office/drawing/2014/main" id="{1BE6EB82-CC17-42C9-A4A0-A597192DF568}"/>
              </a:ext>
            </a:extLst>
          </p:cNvPr>
          <p:cNvPicPr>
            <a:picLocks noChangeAspect="1"/>
          </p:cNvPicPr>
          <p:nvPr/>
        </p:nvPicPr>
        <p:blipFill>
          <a:blip r:embed="rIdG29"/>
          <a:stretch>
            <a:fillRect/>
          </a:stretch>
        </p:blipFill>
        <p:spPr>
          <a:xfrm>
            <a:off x="4600000" y="3593908"/>
            <a:ext cx="2265000" cy="1362183"/>
          </a:xfrm>
          <a:prstGeom prst="rect">
            <a:avLst/>
          </a:prstGeom>
        </p:spPr>
      </p:pic>
      <p:pic>
        <p:nvPicPr>
          <p:cNvPr id="9030" name="Imagen GR02 30" descr="w_conv.png">
            <a:extLst>
              <a:ext uri="{FF2B5EF4-FFF2-40B4-BE49-F238E27FC236}">
                <a16:creationId xmlns:a16="http://schemas.microsoft.com/office/drawing/2014/main" id="{1BE6EB82-CC17-42C9-A4A0-A597192DF568}"/>
              </a:ext>
            </a:extLst>
          </p:cNvPr>
          <p:cNvPicPr>
            <a:picLocks noChangeAspect="1"/>
          </p:cNvPicPr>
          <p:nvPr/>
        </p:nvPicPr>
        <p:blipFill>
          <a:blip r:embed="rIdG30"/>
          <a:stretch>
            <a:fillRect/>
          </a:stretch>
        </p:blipFill>
        <p:spPr>
          <a:xfrm>
            <a:off x="6985000" y="3078257"/>
            <a:ext cx="2265000" cy="239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1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58939" y="1694395"/>
            <a:ext cx="8924758" cy="136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VISTA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>
                <a:latin typeface="Cambria"/>
                <a:ea typeface="Cambria"/>
                <a:cs typeface="Cambria"/>
                <a:sym typeface="Cambria"/>
              </a:rPr>
              <a:t>Presentación de la aplicación para que pueda ser utilizada por el usuario.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65;g2d624313899_0_26">
            <a:extLst>
              <a:ext uri="{FF2B5EF4-FFF2-40B4-BE49-F238E27FC236}">
                <a16:creationId xmlns:a16="http://schemas.microsoft.com/office/drawing/2014/main" id="{286D923D-8DF7-4CC9-B739-3729D5C028B6}"/>
              </a:ext>
            </a:extLst>
          </p:cNvPr>
          <p:cNvSpPr txBox="1">
            <a:spLocks/>
          </p:cNvSpPr>
          <p:nvPr/>
        </p:nvSpPr>
        <p:spPr>
          <a:xfrm>
            <a:off x="4021289" y="2726129"/>
            <a:ext cx="4760761" cy="136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Se utilizaron plantillas HTML con Jinja2 (Flask)</a:t>
            </a:r>
          </a:p>
        </p:txBody>
      </p:sp>
      <p:pic>
        <p:nvPicPr>
          <p:cNvPr id="9031" name="Imagen GR02 31" descr="web_login.png">
            <a:extLst>
              <a:ext uri="{FF2B5EF4-FFF2-40B4-BE49-F238E27FC236}">
                <a16:creationId xmlns:a16="http://schemas.microsoft.com/office/drawing/2014/main" id="{5E7ECBB9-1695-4B62-9C87-7DE5DC80C0C3}"/>
              </a:ext>
            </a:extLst>
          </p:cNvPr>
          <p:cNvPicPr/>
          <p:nvPr/>
        </p:nvPicPr>
        <p:blipFill>
          <a:blip r:embed="rIdG31"/>
          <a:stretch>
            <a:fillRect/>
          </a:stretch>
        </p:blipFill>
        <p:spPr>
          <a:xfrm>
            <a:off x="377123" y="3874245"/>
            <a:ext cx="2851818" cy="1852075"/>
          </a:xfrm>
          <a:prstGeom prst="rect">
            <a:avLst/>
          </a:prstGeom>
        </p:spPr>
      </p:pic>
      <p:pic>
        <p:nvPicPr>
          <p:cNvPr id="9032" name="Imagen GR02 32" descr="web_menu.png">
            <a:extLst>
              <a:ext uri="{FF2B5EF4-FFF2-40B4-BE49-F238E27FC236}">
                <a16:creationId xmlns:a16="http://schemas.microsoft.com/office/drawing/2014/main" id="{5E7ECBB9-1695-4B62-9C87-7DE5DC80C0C3}"/>
              </a:ext>
            </a:extLst>
          </p:cNvPr>
          <p:cNvPicPr/>
          <p:nvPr/>
        </p:nvPicPr>
        <p:blipFill>
          <a:blip r:embed="rIdG32"/>
          <a:stretch>
            <a:fillRect/>
          </a:stretch>
        </p:blipFill>
        <p:spPr>
          <a:xfrm>
            <a:off x="3348941" y="3874245"/>
            <a:ext cx="2851818" cy="1852075"/>
          </a:xfrm>
          <a:prstGeom prst="rect">
            <a:avLst/>
          </a:prstGeom>
        </p:spPr>
      </p:pic>
      <p:pic>
        <p:nvPicPr>
          <p:cNvPr id="9033" name="Imagen GR02 33" descr="web_longitud.png">
            <a:extLst>
              <a:ext uri="{FF2B5EF4-FFF2-40B4-BE49-F238E27FC236}">
                <a16:creationId xmlns:a16="http://schemas.microsoft.com/office/drawing/2014/main" id="{5E7ECBB9-1695-4B62-9C87-7DE5DC80C0C3}"/>
              </a:ext>
            </a:extLst>
          </p:cNvPr>
          <p:cNvPicPr/>
          <p:nvPr/>
        </p:nvPicPr>
        <p:blipFill>
          <a:blip r:embed="rIdG33"/>
          <a:stretch>
            <a:fillRect/>
          </a:stretch>
        </p:blipFill>
        <p:spPr>
          <a:xfrm>
            <a:off x="6320759" y="3874245"/>
            <a:ext cx="2851818" cy="185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59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06173" y="1715856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C" sz="1929" b="1" dirty="0">
                <a:latin typeface="Cambria"/>
                <a:ea typeface="Cambria"/>
                <a:cs typeface="Cambria"/>
                <a:sym typeface="Cambria"/>
              </a:rPr>
              <a:t>Creación de Proyecto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Se crea una aplicación nativa para Android en Java con Android Studio (API mínima 24), con los paquetes controlador, modelo y vista dentro de ec.edu.monster.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34" name="Imagen GR02 34" descr="ide_android.png">
            <a:extLst>
              <a:ext uri="{FF2B5EF4-FFF2-40B4-BE49-F238E27FC236}">
                <a16:creationId xmlns:a16="http://schemas.microsoft.com/office/drawing/2014/main" id="{62F659D3-2123-42C5-B261-E53AD201AF70}"/>
              </a:ext>
            </a:extLst>
          </p:cNvPr>
          <p:cNvPicPr/>
          <p:nvPr/>
        </p:nvPicPr>
        <p:blipFill>
          <a:blip r:embed="rIdG34"/>
          <a:stretch>
            <a:fillRect/>
          </a:stretch>
        </p:blipFill>
        <p:spPr>
          <a:xfrm>
            <a:off x="2688963" y="3597064"/>
            <a:ext cx="4161061" cy="223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2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439889" y="827236"/>
            <a:ext cx="4036861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MODELO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S" sz="1670" dirty="0">
                <a:latin typeface="Cambria"/>
                <a:ea typeface="Cambria"/>
                <a:cs typeface="Cambria"/>
                <a:sym typeface="Cambria"/>
              </a:rPr>
              <a:t>ConversionRequest, ConversionResponse y SesionUsuario son las mismas clases de los clientes Java.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g2d624313899_0_26">
            <a:extLst>
              <a:ext uri="{FF2B5EF4-FFF2-40B4-BE49-F238E27FC236}">
                <a16:creationId xmlns:a16="http://schemas.microsoft.com/office/drawing/2014/main" id="{B69C935B-D8B6-402D-ABFE-1A946C2F86E3}"/>
              </a:ext>
            </a:extLst>
          </p:cNvPr>
          <p:cNvSpPr txBox="1">
            <a:spLocks/>
          </p:cNvSpPr>
          <p:nvPr/>
        </p:nvSpPr>
        <p:spPr>
          <a:xfrm>
            <a:off x="502587" y="3278082"/>
            <a:ext cx="4036861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Noto Sans Symbols"/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CONTROLADOR</a:t>
            </a:r>
            <a:endParaRPr lang="es-ES"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EC" sz="1670" dirty="0">
                <a:latin typeface="Cambria"/>
                <a:ea typeface="Cambria"/>
                <a:cs typeface="Cambria"/>
                <a:sym typeface="Cambria"/>
              </a:rPr>
              <a:t>ApiService realiza las peticiones en un hilo secundario y devuelve el resultado con ApiCallback&lt;T&gt;; las actividades reaccionan en onSuccess u onError.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35" name="Imagen GR02 35" descr="m_conv.png">
            <a:extLst>
              <a:ext uri="{FF2B5EF4-FFF2-40B4-BE49-F238E27FC236}">
                <a16:creationId xmlns:a16="http://schemas.microsoft.com/office/drawing/2014/main" id="{C9A5A9B4-A995-4CAB-9173-F40D2350F7C8}"/>
              </a:ext>
            </a:extLst>
          </p:cNvPr>
          <p:cNvPicPr>
            <a:picLocks noChangeAspect="1"/>
          </p:cNvPicPr>
          <p:nvPr/>
        </p:nvPicPr>
        <p:blipFill>
          <a:blip r:embed="rIdG35"/>
          <a:stretch>
            <a:fillRect/>
          </a:stretch>
        </p:blipFill>
        <p:spPr>
          <a:xfrm>
            <a:off x="4600000" y="3587169"/>
            <a:ext cx="2265000" cy="1375662"/>
          </a:xfrm>
          <a:prstGeom prst="rect">
            <a:avLst/>
          </a:prstGeom>
        </p:spPr>
      </p:pic>
      <p:pic>
        <p:nvPicPr>
          <p:cNvPr id="9036" name="Imagen GR02 36" descr="m_login.png">
            <a:extLst>
              <a:ext uri="{FF2B5EF4-FFF2-40B4-BE49-F238E27FC236}">
                <a16:creationId xmlns:a16="http://schemas.microsoft.com/office/drawing/2014/main" id="{C9A5A9B4-A995-4CAB-9173-F40D2350F7C8}"/>
              </a:ext>
            </a:extLst>
          </p:cNvPr>
          <p:cNvPicPr>
            <a:picLocks noChangeAspect="1"/>
          </p:cNvPicPr>
          <p:nvPr/>
        </p:nvPicPr>
        <p:blipFill>
          <a:blip r:embed="rIdG36"/>
          <a:stretch>
            <a:fillRect/>
          </a:stretch>
        </p:blipFill>
        <p:spPr>
          <a:xfrm>
            <a:off x="6985000" y="3274907"/>
            <a:ext cx="2265000" cy="200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38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03055" y="1836678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C" sz="1929" b="1" dirty="0">
                <a:latin typeface="Cambria"/>
                <a:ea typeface="Cambria"/>
                <a:cs typeface="Cambria"/>
                <a:sym typeface="Cambria"/>
              </a:rPr>
              <a:t>Vista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Las pantallas se definen con layouts XML de Android: inicio de sesión y menú de categorías.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37" name="Imagen GR02 37" descr="mov_login_lleno.png">
            <a:extLst>
              <a:ext uri="{FF2B5EF4-FFF2-40B4-BE49-F238E27FC236}">
                <a16:creationId xmlns:a16="http://schemas.microsoft.com/office/drawing/2014/main" id="{88BDCCEC-AE5C-4620-AF58-2E08F91CB693}"/>
              </a:ext>
            </a:extLst>
          </p:cNvPr>
          <p:cNvPicPr>
            <a:picLocks noChangeAspect="1"/>
          </p:cNvPicPr>
          <p:nvPr/>
        </p:nvPicPr>
        <p:blipFill>
          <a:blip r:embed="rIdG37"/>
          <a:stretch>
            <a:fillRect/>
          </a:stretch>
        </p:blipFill>
        <p:spPr>
          <a:xfrm>
            <a:off x="2655803" y="3197778"/>
            <a:ext cx="1551856" cy="3448569"/>
          </a:xfrm>
          <a:prstGeom prst="rect">
            <a:avLst/>
          </a:prstGeom>
        </p:spPr>
      </p:pic>
      <p:pic>
        <p:nvPicPr>
          <p:cNvPr id="9038" name="Imagen GR02 38" descr="mov_menu.png">
            <a:extLst>
              <a:ext uri="{FF2B5EF4-FFF2-40B4-BE49-F238E27FC236}">
                <a16:creationId xmlns:a16="http://schemas.microsoft.com/office/drawing/2014/main" id="{88BDCCEC-AE5C-4620-AF58-2E08F91CB693}"/>
              </a:ext>
            </a:extLst>
          </p:cNvPr>
          <p:cNvPicPr>
            <a:picLocks noChangeAspect="1"/>
          </p:cNvPicPr>
          <p:nvPr/>
        </p:nvPicPr>
        <p:blipFill>
          <a:blip r:embed="rIdG38"/>
          <a:stretch>
            <a:fillRect/>
          </a:stretch>
        </p:blipFill>
        <p:spPr>
          <a:xfrm>
            <a:off x="5387751" y="3197778"/>
            <a:ext cx="1551856" cy="344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03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03055" y="1836678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C" sz="1929" b="1" dirty="0">
                <a:latin typeface="Cambria"/>
                <a:ea typeface="Cambria"/>
                <a:cs typeface="Cambria"/>
                <a:sym typeface="Cambria"/>
              </a:rPr>
              <a:t>Vista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Conversiones realizadas desde la aplicación contra el servidor REST: 5 km a metros y 100 °C a Fahrenheit.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39" name="Imagen GR02 39" descr="mov_longitud_res.png">
            <a:extLst>
              <a:ext uri="{FF2B5EF4-FFF2-40B4-BE49-F238E27FC236}">
                <a16:creationId xmlns:a16="http://schemas.microsoft.com/office/drawing/2014/main" id="{99C9536B-8040-44B2-ABFE-5A89F55030AE}"/>
              </a:ext>
            </a:extLst>
          </p:cNvPr>
          <p:cNvPicPr/>
          <p:nvPr/>
        </p:nvPicPr>
        <p:blipFill>
          <a:blip r:embed="rIdG39"/>
          <a:stretch>
            <a:fillRect/>
          </a:stretch>
        </p:blipFill>
        <p:spPr>
          <a:xfrm>
            <a:off x="2160962" y="3139440"/>
            <a:ext cx="1631918" cy="3626485"/>
          </a:xfrm>
          <a:prstGeom prst="rect">
            <a:avLst/>
          </a:prstGeom>
        </p:spPr>
      </p:pic>
      <p:pic>
        <p:nvPicPr>
          <p:cNvPr id="9040" name="Imagen GR02 40" descr="mov_temperatura.png">
            <a:extLst>
              <a:ext uri="{FF2B5EF4-FFF2-40B4-BE49-F238E27FC236}">
                <a16:creationId xmlns:a16="http://schemas.microsoft.com/office/drawing/2014/main" id="{99C9536B-8040-44B2-ABFE-5A89F55030AE}"/>
              </a:ext>
            </a:extLst>
          </p:cNvPr>
          <p:cNvPicPr/>
          <p:nvPr/>
        </p:nvPicPr>
        <p:blipFill>
          <a:blip r:embed="rIdG40"/>
          <a:stretch>
            <a:fillRect/>
          </a:stretch>
        </p:blipFill>
        <p:spPr>
          <a:xfrm>
            <a:off x="5861810" y="3139440"/>
            <a:ext cx="1631918" cy="36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62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 dirty="0">
                <a:latin typeface="Cambria"/>
                <a:ea typeface="Cambria"/>
                <a:cs typeface="Cambria"/>
                <a:sym typeface="Cambria"/>
              </a:rPr>
              <a:t>ASP.NET Core Web API permitió exponer los recursos del conversor mediante controladores y atributos de enrutamiento, con una respuesta común (estado, código y mensaje) y códigos propios AUTH, UNIT y DATA que todos los clientes interpretan igual.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 dirty="0">
                <a:latin typeface="Cambria"/>
                <a:ea typeface="Cambria"/>
                <a:cs typeface="Cambria"/>
                <a:sym typeface="Cambria"/>
              </a:rPr>
              <a:t>Al usar HTTP y JSON como contrato, clientes escritos en Java, Python y Android consumieron sin dificultad el mismo servidor .NET, lo que demuestra la interoperabilidad de REST dentro de una arquitectura SOA.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 dirty="0">
                <a:latin typeface="Cambria"/>
                <a:ea typeface="Cambria"/>
                <a:cs typeface="Cambria"/>
                <a:sym typeface="Cambria"/>
              </a:rPr>
              <a:t>La autenticación con tokens de 30 minutos enviados con el esquema Bearer protegió el servicio sin base de datos, y el patrón MVC permitió reutilizar el modelo y el controlador entre los clientes de consola y escritorio.</a:t>
            </a:r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 dirty="0"/>
              <a:t>Incorporar una base de datos que reemplace las credenciales predefinidas y el registro de tokens en memoria, para gestionar varios usuarios y conservar las sesiones.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 dirty="0"/>
              <a:t>Utilizar HTTPS en producción y considerar tokens firmados como JWT, que el servidor puede validar sin consultar un registro.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 dirty="0"/>
              <a:t>Versionar la API REST (por ejemplo /api/v1/conversor) y documentarla con OpenAPI para facilitar su consumo por nuevos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 dirty="0"/>
              <a:t>Evitar rutas de carpeta demasiado largas en Windows, ya que Visual Studio no admite rutas de más de 260 caracteres; de ser necesario, abrir la solución desde una unidad creada con subst.</a:t>
            </a:r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RESTFUL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1798</Words>
  <Application>Microsoft Office PowerPoint</Application>
  <PresentationFormat>Panorámica</PresentationFormat>
  <Paragraphs>336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Noto Sans Symbols</vt:lpstr>
      <vt:lpstr>Cambria</vt:lpstr>
      <vt:lpstr>Gill Sans</vt:lpstr>
      <vt:lpstr>Arial</vt:lpstr>
      <vt:lpstr>Dividendo</vt:lpstr>
      <vt:lpstr>MANUAL CONVUNI RESTFUL DOTNET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CONVUNI SOAP JAVA</dc:title>
  <dc:creator>Michael Villarruel</dc:creator>
  <cp:lastModifiedBy>Frederick Tipan</cp:lastModifiedBy>
  <cp:revision>22</cp:revision>
  <dcterms:created xsi:type="dcterms:W3CDTF">2020-08-13T07:15:02Z</dcterms:created>
  <dcterms:modified xsi:type="dcterms:W3CDTF">2026-10-25T01:35:15Z</dcterms:modified>
</cp:coreProperties>
</file>